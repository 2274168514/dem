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0.xml" ContentType="application/vnd.openxmlformats-officedocument.theme+xml"/>
  <Override PartName="/ppt/slideLayouts/slideLayout1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734" r:id="rId1"/>
    <p:sldMasterId id="2147483736" r:id="rId2"/>
    <p:sldMasterId id="2147483738" r:id="rId3"/>
    <p:sldMasterId id="2147483740" r:id="rId4"/>
    <p:sldMasterId id="2147483767" r:id="rId5"/>
    <p:sldMasterId id="2147483769" r:id="rId6"/>
    <p:sldMasterId id="2147483771" r:id="rId7"/>
    <p:sldMasterId id="2147483773" r:id="rId8"/>
    <p:sldMasterId id="2147483775" r:id="rId9"/>
    <p:sldMasterId id="2147483784" r:id="rId10"/>
    <p:sldMasterId id="2147483832" r:id="rId11"/>
  </p:sldMasterIdLst>
  <p:notesMasterIdLst>
    <p:notesMasterId r:id="rId32"/>
  </p:notesMasterIdLst>
  <p:handoutMasterIdLst>
    <p:handoutMasterId r:id="rId33"/>
  </p:handoutMasterIdLst>
  <p:sldIdLst>
    <p:sldId id="906" r:id="rId12"/>
    <p:sldId id="907" r:id="rId13"/>
    <p:sldId id="909" r:id="rId14"/>
    <p:sldId id="910" r:id="rId15"/>
    <p:sldId id="922" r:id="rId16"/>
    <p:sldId id="923" r:id="rId17"/>
    <p:sldId id="924" r:id="rId18"/>
    <p:sldId id="925" r:id="rId19"/>
    <p:sldId id="913" r:id="rId20"/>
    <p:sldId id="914" r:id="rId21"/>
    <p:sldId id="915" r:id="rId22"/>
    <p:sldId id="916" r:id="rId23"/>
    <p:sldId id="917" r:id="rId24"/>
    <p:sldId id="918" r:id="rId25"/>
    <p:sldId id="919" r:id="rId26"/>
    <p:sldId id="920" r:id="rId27"/>
    <p:sldId id="921" r:id="rId28"/>
    <p:sldId id="926" r:id="rId29"/>
    <p:sldId id="927" r:id="rId30"/>
    <p:sldId id="928" r:id="rId31"/>
  </p:sldIdLst>
  <p:sldSz cx="9144000" cy="5143500" type="screen16x9"/>
  <p:notesSz cx="6858000" cy="9144000"/>
  <p:embeddedFontLst>
    <p:embeddedFont>
      <p:font typeface="等线" panose="02010600030101010101" pitchFamily="2" charset="-122"/>
      <p:regular r:id="rId34"/>
      <p:bold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  <p:embeddedFont>
      <p:font typeface="MS PGothic" panose="020B0600070205080204" pitchFamily="34" charset="-128"/>
      <p:regular r:id="rId40"/>
    </p:embeddedFont>
    <p:embeddedFont>
      <p:font typeface="黑体" panose="02010609060101010101" pitchFamily="49" charset="-122"/>
      <p:regular r:id="rId41"/>
    </p:embeddedFont>
    <p:embeddedFont>
      <p:font typeface="Tahoma" panose="020B0604030504040204" pitchFamily="34" charset="0"/>
      <p:regular r:id="rId42"/>
      <p:bold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微软雅黑" panose="020B0503020204020204" pitchFamily="34" charset="-122"/>
      <p:regular r:id="rId48"/>
      <p:bold r:id="rId49"/>
    </p:embeddedFon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MS PGothic" panose="020B0600070205080204" pitchFamily="34" charset="-128"/>
      <p:regular r:id="rId4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FFFF99"/>
    <a:srgbClr val="1FA3E5"/>
    <a:srgbClr val="FFFF00"/>
    <a:srgbClr val="FF99FF"/>
    <a:srgbClr val="C3E3F9"/>
    <a:srgbClr val="CCFF99"/>
    <a:srgbClr val="CC0099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84383" autoAdjust="0"/>
  </p:normalViewPr>
  <p:slideViewPr>
    <p:cSldViewPr snapToGrid="0">
      <p:cViewPr varScale="1">
        <p:scale>
          <a:sx n="74" d="100"/>
          <a:sy n="74" d="100"/>
        </p:scale>
        <p:origin x="8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font" Target="fonts/font6.fntdata"/><Relationship Id="rId21" Type="http://schemas.openxmlformats.org/officeDocument/2006/relationships/slide" Target="slides/slide1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font" Target="fonts/font1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9.xml"/><Relationship Id="rId41" Type="http://schemas.openxmlformats.org/officeDocument/2006/relationships/font" Target="fonts/font8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67688-E272-416B-BD85-0DB7BA2AB0BA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51447-F619-456E-BEB2-8327FF956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168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73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7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975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278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92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713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49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285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4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975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1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975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7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1625" baseline="0">
                <a:solidFill>
                  <a:schemeClr val="bg2"/>
                </a:solidFill>
                <a:latin typeface="+mj-lt"/>
              </a:defRPr>
            </a:lvl1pPr>
            <a:lvl2pPr marL="247627" indent="0">
              <a:buNone/>
              <a:defRPr/>
            </a:lvl2pPr>
            <a:lvl3pPr marL="347253" indent="0">
              <a:buNone/>
              <a:defRPr/>
            </a:lvl3pPr>
            <a:lvl4pPr marL="419801" indent="0">
              <a:buNone/>
              <a:defRPr/>
            </a:lvl4pPr>
            <a:lvl5pPr marL="488477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6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925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9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001139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7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975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278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92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713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49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285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4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975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1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975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9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7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1625" baseline="0">
                <a:solidFill>
                  <a:schemeClr val="accent1"/>
                </a:solidFill>
                <a:latin typeface="+mj-lt"/>
              </a:defRPr>
            </a:lvl1pPr>
            <a:lvl2pPr marL="247627" indent="0">
              <a:buNone/>
              <a:defRPr/>
            </a:lvl2pPr>
            <a:lvl3pPr marL="347253" indent="0">
              <a:buNone/>
              <a:defRPr/>
            </a:lvl3pPr>
            <a:lvl4pPr marL="419801" indent="0">
              <a:buNone/>
              <a:defRPr/>
            </a:lvl4pPr>
            <a:lvl5pPr marL="488477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6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925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341289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7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975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278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92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713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49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285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4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975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1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975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219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9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7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1625" baseline="0">
                <a:solidFill>
                  <a:schemeClr val="bg2"/>
                </a:solidFill>
                <a:latin typeface="+mj-lt"/>
              </a:defRPr>
            </a:lvl1pPr>
            <a:lvl2pPr marL="247627" indent="0">
              <a:buNone/>
              <a:defRPr/>
            </a:lvl2pPr>
            <a:lvl3pPr marL="347253" indent="0">
              <a:buNone/>
              <a:defRPr/>
            </a:lvl3pPr>
            <a:lvl4pPr marL="419801" indent="0">
              <a:buNone/>
              <a:defRPr/>
            </a:lvl4pPr>
            <a:lvl5pPr marL="488477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6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925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9160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737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56123" y="4771814"/>
            <a:ext cx="177999" cy="1256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0039" tIns="25019" rIns="50039" bIns="25019" anchor="b">
            <a:spAutoFit/>
          </a:bodyPr>
          <a:lstStyle/>
          <a:p>
            <a:pPr marL="0" marR="0" lvl="0" indent="0" algn="r" defTabSz="496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1E46DC-7EF6-4EA2-B285-14272867D133}" type="slidenum"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38C6F4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 pitchFamily="34" charset="-128"/>
                <a:cs typeface="CiscoSans Thin"/>
              </a:rPr>
              <a:pPr marL="0" marR="0" lvl="0" indent="0" algn="r" defTabSz="4962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488" b="0" i="0" u="none" strike="noStrike" kern="1200" cap="none" spc="0" normalizeH="0" baseline="0" noProof="0">
              <a:ln>
                <a:noFill/>
              </a:ln>
              <a:solidFill>
                <a:srgbClr val="38C6F4">
                  <a:lumMod val="50000"/>
                </a:srgbClr>
              </a:solidFill>
              <a:effectLst/>
              <a:uLnTx/>
              <a:uFillTx/>
              <a:latin typeface="Arial"/>
              <a:ea typeface="ＭＳ Ｐゴシック" pitchFamily="34" charset="-128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70560"/>
            <a:ext cx="2658018" cy="12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039" tIns="25019" rIns="50039" bIns="25019" anchor="b">
            <a:spAutoFit/>
          </a:bodyPr>
          <a:lstStyle/>
          <a:p>
            <a:pPr marL="0" marR="0" lvl="0" indent="0" algn="l" defTabSz="496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8" b="0" i="0" u="none" strike="noStrike" kern="1200" cap="none" spc="0" normalizeH="0" baseline="0" noProof="0">
                <a:ln>
                  <a:noFill/>
                </a:ln>
                <a:solidFill>
                  <a:srgbClr val="38C6F4">
                    <a:lumMod val="50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CiscoSans Thin"/>
              </a:rPr>
              <a:t>© 2016 </a:t>
            </a:r>
            <a:r>
              <a:rPr kumimoji="0" lang="zh-CN" altLang="en-US" sz="488" b="0" i="0" u="none" strike="noStrike" kern="1200" cap="none" spc="0" normalizeH="0" baseline="0" noProof="0">
                <a:ln>
                  <a:noFill/>
                </a:ln>
                <a:solidFill>
                  <a:srgbClr val="38C6F4">
                    <a:lumMod val="50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CiscoSans Thin"/>
              </a:rPr>
              <a:t>思科和</a:t>
            </a:r>
            <a:r>
              <a:rPr kumimoji="0" lang="en-US" altLang="zh-CN" sz="488" b="0" i="0" u="none" strike="noStrike" kern="1200" cap="none" spc="0" normalizeH="0" baseline="0" noProof="0">
                <a:ln>
                  <a:noFill/>
                </a:ln>
                <a:solidFill>
                  <a:srgbClr val="38C6F4">
                    <a:lumMod val="50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CiscoSans Thin"/>
              </a:rPr>
              <a:t>/</a:t>
            </a:r>
            <a:r>
              <a:rPr kumimoji="0" lang="zh-CN" altLang="en-US" sz="488" b="0" i="0" u="none" strike="noStrike" kern="1200" cap="none" spc="0" normalizeH="0" baseline="0" noProof="0">
                <a:ln>
                  <a:noFill/>
                </a:ln>
                <a:solidFill>
                  <a:srgbClr val="38C6F4">
                    <a:lumMod val="50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CiscoSans Thin"/>
              </a:rPr>
              <a:t>或其附属公司。版权所有。思科机密信息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40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648107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3" y="1347789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116" marR="0" indent="-232116" algn="ctr" defTabSz="3713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25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7" y="341314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833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1884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1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8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50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4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50" b="0" i="0" u="none" strike="noStrike" kern="1200" cap="none" spc="0" normalizeH="0" baseline="0" noProof="0" dirty="0">
              <a:ln>
                <a:noFill/>
              </a:ln>
              <a:solidFill>
                <a:srgbClr val="049FD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625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625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625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1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325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325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9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325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649370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2" y="1979319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50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38C6F4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1" y="1328928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50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38C6F4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2" y="26274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50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38C6F4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5" y="1334843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625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6" y="198456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625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6" y="2627447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625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2" y="1327522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625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2" y="197931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625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3" y="26254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625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3" y="3274582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50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38C6F4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7" y="327458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625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625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50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38C6F4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8" y="3921717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625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4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625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963106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2" y="1979319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1" y="1328928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2" y="26274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3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2" y="1327522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2" y="197931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3" y="26254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3" y="3274582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7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7" y="1983085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6" y="1332694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7" y="2631213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9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3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7" y="133128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7" y="1983085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8" y="2629260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8" y="3278348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9" y="3276395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9" y="3925483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4295" rtlCol="0" anchor="ctr" anchorCtr="0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solidFill>
                  <a:srgbClr val="81C569"/>
                </a:solidFill>
              </a:ln>
              <a:solidFill>
                <a:srgbClr val="81C5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3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463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80" y="3923530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46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994761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983058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146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6850224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019327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5213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07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2614" y="169069"/>
            <a:ext cx="8145462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+mn-cs"/>
            </a:endParaRPr>
          </a:p>
        </p:txBody>
      </p:sp>
      <p:sp>
        <p:nvSpPr>
          <p:cNvPr id="491524" name="Rectangle 4"/>
          <p:cNvSpPr>
            <a:spLocks noChangeArrowheads="1"/>
          </p:cNvSpPr>
          <p:nvPr/>
        </p:nvSpPr>
        <p:spPr bwMode="auto">
          <a:xfrm>
            <a:off x="8675581" y="4968272"/>
            <a:ext cx="241408" cy="177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593" tIns="30796" rIns="61593" bIns="30796" anchor="b">
            <a:spAutoFit/>
          </a:bodyPr>
          <a:lstStyle>
            <a:lvl1pPr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6107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D2E847-83A5-46BF-AACC-C334F0A682B6}" type="slidenum">
              <a:rPr kumimoji="0" lang="zh-CN" altLang="en-US" sz="7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1079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7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867967"/>
            <a:ext cx="8070850" cy="2831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838198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3429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6858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0287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3716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177404" indent="-177404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31006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ea typeface="+mn-ea"/>
        </a:defRPr>
      </a:lvl2pPr>
      <a:lvl3pPr marL="685800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  <a:ea typeface="+mn-ea"/>
        </a:defRPr>
      </a:lvl3pPr>
      <a:lvl4pPr marL="940594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2037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546622" algn="l" defTabSz="610791" rtl="0" fontAlgn="base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1889522" algn="l" defTabSz="610791" rtl="0" fontAlgn="base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232422" algn="l" defTabSz="610791" rtl="0" fontAlgn="base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575322" algn="l" defTabSz="610791" rtl="0" fontAlgn="base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2614" y="169069"/>
            <a:ext cx="8145462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+mn-cs"/>
            </a:endParaRPr>
          </a:p>
        </p:txBody>
      </p:sp>
      <p:sp>
        <p:nvSpPr>
          <p:cNvPr id="491524" name="Rectangle 4"/>
          <p:cNvSpPr>
            <a:spLocks noChangeArrowheads="1"/>
          </p:cNvSpPr>
          <p:nvPr/>
        </p:nvSpPr>
        <p:spPr bwMode="auto">
          <a:xfrm>
            <a:off x="8675581" y="4968272"/>
            <a:ext cx="241408" cy="177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593" tIns="30796" rIns="61593" bIns="30796" anchor="b">
            <a:spAutoFit/>
          </a:bodyPr>
          <a:lstStyle>
            <a:lvl1pPr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6107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D2E847-83A5-46BF-AACC-C334F0A682B6}" type="slidenum">
              <a:rPr kumimoji="0" lang="zh-CN" altLang="en-US" sz="7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1079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7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867967"/>
            <a:ext cx="8070850" cy="2831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6744516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3429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6858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0287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3716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177404" indent="-177404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31006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ea typeface="+mn-ea"/>
        </a:defRPr>
      </a:lvl2pPr>
      <a:lvl3pPr marL="685800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  <a:ea typeface="+mn-ea"/>
        </a:defRPr>
      </a:lvl3pPr>
      <a:lvl4pPr marL="940594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2037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546622" algn="l" defTabSz="610791" rtl="0" fontAlgn="base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1889522" algn="l" defTabSz="610791" rtl="0" fontAlgn="base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232422" algn="l" defTabSz="610791" rtl="0" fontAlgn="base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575322" algn="l" defTabSz="610791" rtl="0" fontAlgn="base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2876"/>
            <a:ext cx="8145463" cy="559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+mn-cs"/>
            </a:endParaRPr>
          </a:p>
        </p:txBody>
      </p:sp>
      <p:sp>
        <p:nvSpPr>
          <p:cNvPr id="1585156" name="Rectangle 4"/>
          <p:cNvSpPr>
            <a:spLocks noChangeArrowheads="1"/>
          </p:cNvSpPr>
          <p:nvPr/>
        </p:nvSpPr>
        <p:spPr bwMode="auto">
          <a:xfrm>
            <a:off x="8675581" y="4968272"/>
            <a:ext cx="241408" cy="177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593" tIns="30796" rIns="61593" bIns="30796" anchor="b">
            <a:spAutoFit/>
          </a:bodyPr>
          <a:lstStyle>
            <a:lvl1pPr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6107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7F997E-FC4F-4ECC-B885-8973AE4665E5}" type="slidenum">
              <a:rPr kumimoji="0" lang="zh-CN" altLang="en-US" sz="7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1079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7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887017"/>
            <a:ext cx="7940675" cy="2963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4377563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2pPr>
      <a:lvl3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3pPr>
      <a:lvl4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4pPr>
      <a:lvl5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5pPr>
      <a:lvl6pPr marL="3429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6pPr>
      <a:lvl7pPr marL="6858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7pPr>
      <a:lvl8pPr marL="10287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8pPr>
      <a:lvl9pPr marL="13716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9pPr>
    </p:titleStyle>
    <p:bodyStyle>
      <a:lvl1pPr marL="177404" indent="-177404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31006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2pPr>
      <a:lvl3pPr marL="685800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3pPr>
      <a:lvl4pPr marL="940594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4pPr>
      <a:lvl5pPr marL="12037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5pPr>
      <a:lvl6pPr marL="15466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6pPr>
      <a:lvl7pPr marL="18895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7pPr>
      <a:lvl8pPr marL="22324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8pPr>
      <a:lvl9pPr marL="25753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2876"/>
            <a:ext cx="8145463" cy="559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+mn-cs"/>
            </a:endParaRPr>
          </a:p>
        </p:txBody>
      </p:sp>
      <p:sp>
        <p:nvSpPr>
          <p:cNvPr id="1585156" name="Rectangle 4"/>
          <p:cNvSpPr>
            <a:spLocks noChangeArrowheads="1"/>
          </p:cNvSpPr>
          <p:nvPr/>
        </p:nvSpPr>
        <p:spPr bwMode="auto">
          <a:xfrm>
            <a:off x="8675581" y="4968272"/>
            <a:ext cx="241408" cy="177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593" tIns="30796" rIns="61593" bIns="30796" anchor="b">
            <a:spAutoFit/>
          </a:bodyPr>
          <a:lstStyle>
            <a:lvl1pPr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814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6107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7F997E-FC4F-4ECC-B885-8973AE4665E5}" type="slidenum">
              <a:rPr kumimoji="0" lang="zh-CN" altLang="en-US" sz="7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1079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7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887017"/>
            <a:ext cx="7940675" cy="2963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6957572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2pPr>
      <a:lvl3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3pPr>
      <a:lvl4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4pPr>
      <a:lvl5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5pPr>
      <a:lvl6pPr marL="3429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6pPr>
      <a:lvl7pPr marL="6858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7pPr>
      <a:lvl8pPr marL="10287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8pPr>
      <a:lvl9pPr marL="13716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34" charset="0"/>
        </a:defRPr>
      </a:lvl9pPr>
    </p:titleStyle>
    <p:bodyStyle>
      <a:lvl1pPr marL="177404" indent="-177404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31006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2pPr>
      <a:lvl3pPr marL="685800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3pPr>
      <a:lvl4pPr marL="940594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4pPr>
      <a:lvl5pPr marL="12037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5pPr>
      <a:lvl6pPr marL="15466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6pPr>
      <a:lvl7pPr marL="18895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7pPr>
      <a:lvl8pPr marL="22324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8pPr>
      <a:lvl9pPr marL="2575322" algn="l" defTabSz="610791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chemeClr val="tx2"/>
        </a:buClr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25" y="295275"/>
            <a:ext cx="87725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vert="horz" wrap="square" lIns="91275" tIns="45638" rIns="91275" bIns="456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Slide Title</a:t>
            </a:r>
          </a:p>
        </p:txBody>
      </p:sp>
      <p:sp>
        <p:nvSpPr>
          <p:cNvPr id="10243" name="Rectangle 6282"/>
          <p:cNvSpPr>
            <a:spLocks noChangeArrowheads="1"/>
          </p:cNvSpPr>
          <p:nvPr/>
        </p:nvSpPr>
        <p:spPr bwMode="auto">
          <a:xfrm>
            <a:off x="8788133" y="5047941"/>
            <a:ext cx="128862" cy="9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83" tIns="14438" rIns="28883" bIns="14438" anchor="b">
            <a:spAutoFit/>
          </a:bodyPr>
          <a:lstStyle>
            <a:lvl1pPr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r" defTabSz="28694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A37C99-F965-49AD-9CCF-38ACE1B92672}" type="slidenum">
              <a:rPr kumimoji="0" lang="en-US" altLang="zh-CN" sz="4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pPr marL="0" marR="0" lvl="0" indent="0" algn="r" defTabSz="28694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4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0244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2732" y="1154911"/>
            <a:ext cx="8734425" cy="3694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75" tIns="45638" rIns="91275" bIns="456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45" name="Rectangle 6312"/>
          <p:cNvSpPr>
            <a:spLocks noChangeArrowheads="1"/>
          </p:cNvSpPr>
          <p:nvPr/>
        </p:nvSpPr>
        <p:spPr bwMode="auto">
          <a:xfrm>
            <a:off x="4105535" y="5047942"/>
            <a:ext cx="1001713" cy="9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883" tIns="14438" rIns="28883" bIns="14438" anchor="b" anchorCtr="1">
            <a:spAutoFit/>
          </a:bodyPr>
          <a:lstStyle>
            <a:lvl1pPr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28694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" b="1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北京邮电大学思科网络技术学院</a:t>
            </a:r>
            <a:endParaRPr kumimoji="0" lang="en-US" altLang="zh-CN" sz="450" b="1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246556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gradFill>
            <a:gsLst>
              <a:gs pos="16000">
                <a:srgbClr val="6B308D">
                  <a:lumMod val="80000"/>
                  <a:lumOff val="20000"/>
                </a:srgbClr>
              </a:gs>
              <a:gs pos="100000">
                <a:srgbClr val="28A7DF"/>
              </a:gs>
            </a:gsLst>
            <a:lin ang="1800000" scaled="0"/>
          </a:gra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S PGothic" pitchFamily="34" charset="-128"/>
          <a:cs typeface="ＭＳ Ｐゴシック" charset="0"/>
        </a:defRPr>
      </a:lvl1pPr>
      <a:lvl2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2pPr>
      <a:lvl3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3pPr>
      <a:lvl4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4pPr>
      <a:lvl5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5pPr>
      <a:lvl6pPr marL="161582" algn="l" defTabSz="2878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6pPr>
      <a:lvl7pPr marL="323180" algn="l" defTabSz="2878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7pPr>
      <a:lvl8pPr marL="484748" algn="l" defTabSz="2878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8pPr>
      <a:lvl9pPr marL="646355" algn="l" defTabSz="2878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9pPr>
    </p:titleStyle>
    <p:bodyStyle>
      <a:lvl1pPr marL="83344" indent="-83344" algn="l" defTabSz="286941" rtl="0" fontAlgn="base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9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202406" indent="-404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2pPr>
      <a:lvl3pPr marL="322660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3pPr>
      <a:lvl4pPr marL="442913" indent="404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4pPr>
      <a:lvl5pPr marL="566738" indent="785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5pPr>
      <a:lvl6pPr marL="728806" algn="l" defTabSz="287825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6pPr>
      <a:lvl7pPr marL="890417" algn="l" defTabSz="287825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7pPr>
      <a:lvl8pPr marL="1052003" algn="l" defTabSz="287825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8pPr>
      <a:lvl9pPr marL="1213589" algn="l" defTabSz="287825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61582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23180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4748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46355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07939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69524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31113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2707" algn="l" defTabSz="32318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25" y="295275"/>
            <a:ext cx="87725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vert="horz" wrap="square" lIns="91342" tIns="45671" rIns="91342" bIns="4567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Slide Title</a:t>
            </a:r>
          </a:p>
        </p:txBody>
      </p:sp>
      <p:sp>
        <p:nvSpPr>
          <p:cNvPr id="11267" name="Rectangle 6282"/>
          <p:cNvSpPr>
            <a:spLocks noChangeArrowheads="1"/>
          </p:cNvSpPr>
          <p:nvPr/>
        </p:nvSpPr>
        <p:spPr bwMode="auto">
          <a:xfrm>
            <a:off x="8788083" y="5047916"/>
            <a:ext cx="128905" cy="9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904" tIns="14449" rIns="28904" bIns="14449" anchor="b">
            <a:spAutoFit/>
          </a:bodyPr>
          <a:lstStyle>
            <a:lvl1pPr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r" defTabSz="28694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54F795-4AA4-4C17-A7D3-D8ACCDB01362}" type="slidenum">
              <a:rPr kumimoji="0" lang="en-US" altLang="zh-CN" sz="4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pPr marL="0" marR="0" lvl="0" indent="0" algn="r" defTabSz="28694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4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1268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2732" y="1154911"/>
            <a:ext cx="8734425" cy="3694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1269" name="Rectangle 6312"/>
          <p:cNvSpPr>
            <a:spLocks noChangeArrowheads="1"/>
          </p:cNvSpPr>
          <p:nvPr/>
        </p:nvSpPr>
        <p:spPr bwMode="auto">
          <a:xfrm>
            <a:off x="4105535" y="5047917"/>
            <a:ext cx="1001713" cy="9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904" tIns="14449" rIns="28904" bIns="14449" anchor="b" anchorCtr="1">
            <a:spAutoFit/>
          </a:bodyPr>
          <a:lstStyle>
            <a:lvl1pPr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28694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" b="1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北京邮电大学思科网络技术学院</a:t>
            </a:r>
            <a:endParaRPr kumimoji="0" lang="en-US" altLang="zh-CN" sz="450" b="1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058471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gradFill>
            <a:gsLst>
              <a:gs pos="16000">
                <a:srgbClr val="6B308D">
                  <a:lumMod val="80000"/>
                  <a:lumOff val="20000"/>
                </a:srgbClr>
              </a:gs>
              <a:gs pos="100000">
                <a:srgbClr val="28A7DF"/>
              </a:gs>
            </a:gsLst>
            <a:lin ang="1800000" scaled="0"/>
          </a:gra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S PGothic" pitchFamily="34" charset="-128"/>
          <a:cs typeface="ＭＳ Ｐゴシック" charset="0"/>
        </a:defRPr>
      </a:lvl1pPr>
      <a:lvl2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2pPr>
      <a:lvl3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3pPr>
      <a:lvl4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4pPr>
      <a:lvl5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5pPr>
      <a:lvl6pPr marL="161624" algn="l" defTabSz="2879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6pPr>
      <a:lvl7pPr marL="323263" algn="l" defTabSz="2879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7pPr>
      <a:lvl8pPr marL="484874" algn="l" defTabSz="2879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8pPr>
      <a:lvl9pPr marL="646520" algn="l" defTabSz="2879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9pPr>
    </p:titleStyle>
    <p:bodyStyle>
      <a:lvl1pPr marL="83344" indent="-83344" algn="l" defTabSz="286941" rtl="0" fontAlgn="base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9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202406" indent="-404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2pPr>
      <a:lvl3pPr marL="322660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3pPr>
      <a:lvl4pPr marL="442913" indent="404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4pPr>
      <a:lvl5pPr marL="566738" indent="785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5pPr>
      <a:lvl6pPr marL="728995" algn="l" defTabSz="287900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6pPr>
      <a:lvl7pPr marL="890645" algn="l" defTabSz="287900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7pPr>
      <a:lvl8pPr marL="1052271" algn="l" defTabSz="287900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8pPr>
      <a:lvl9pPr marL="1213900" algn="l" defTabSz="287900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61624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23263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4874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46520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08146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69773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31402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3038" algn="l" defTabSz="32326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25" y="295275"/>
            <a:ext cx="87725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vert="horz" wrap="square" lIns="91426" tIns="45713" rIns="91426" bIns="45713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Slide Title</a:t>
            </a:r>
          </a:p>
        </p:txBody>
      </p:sp>
      <p:sp>
        <p:nvSpPr>
          <p:cNvPr id="12291" name="Rectangle 6282"/>
          <p:cNvSpPr>
            <a:spLocks noChangeArrowheads="1"/>
          </p:cNvSpPr>
          <p:nvPr/>
        </p:nvSpPr>
        <p:spPr bwMode="auto">
          <a:xfrm>
            <a:off x="8788029" y="5047426"/>
            <a:ext cx="128959" cy="9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931" tIns="14462" rIns="28931" bIns="14462" anchor="b">
            <a:spAutoFit/>
          </a:bodyPr>
          <a:lstStyle>
            <a:lvl1pPr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r" defTabSz="28694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FCF342-185E-4D31-81B1-F285D91CEB6A}" type="slidenum">
              <a:rPr kumimoji="0" lang="en-US" altLang="zh-CN" sz="4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pPr marL="0" marR="0" lvl="0" indent="0" algn="r" defTabSz="28694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4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2292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2732" y="1154911"/>
            <a:ext cx="8734425" cy="3694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2293" name="Rectangle 6312"/>
          <p:cNvSpPr>
            <a:spLocks noChangeArrowheads="1"/>
          </p:cNvSpPr>
          <p:nvPr/>
        </p:nvSpPr>
        <p:spPr bwMode="auto">
          <a:xfrm>
            <a:off x="4105535" y="5047887"/>
            <a:ext cx="1001713" cy="9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931" tIns="14462" rIns="28931" bIns="14462" anchor="b" anchorCtr="1">
            <a:spAutoFit/>
          </a:bodyPr>
          <a:lstStyle>
            <a:lvl1pPr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28694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" b="1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北京邮电大学思科网络技术学院</a:t>
            </a:r>
            <a:endParaRPr kumimoji="0" lang="en-US" altLang="zh-CN" sz="450" b="1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615559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gradFill>
            <a:gsLst>
              <a:gs pos="16000">
                <a:srgbClr val="6B308D">
                  <a:lumMod val="80000"/>
                  <a:lumOff val="20000"/>
                </a:srgbClr>
              </a:gs>
              <a:gs pos="100000">
                <a:srgbClr val="28A7DF"/>
              </a:gs>
            </a:gsLst>
            <a:lin ang="1800000" scaled="0"/>
          </a:gra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S PGothic" pitchFamily="34" charset="-128"/>
          <a:cs typeface="ＭＳ Ｐゴシック" charset="0"/>
        </a:defRPr>
      </a:lvl1pPr>
      <a:lvl2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2pPr>
      <a:lvl3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3pPr>
      <a:lvl4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4pPr>
      <a:lvl5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5pPr>
      <a:lvl6pPr marL="161676" algn="l" defTabSz="28799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6pPr>
      <a:lvl7pPr marL="323366" algn="l" defTabSz="28799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7pPr>
      <a:lvl8pPr marL="485031" algn="l" defTabSz="28799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8pPr>
      <a:lvl9pPr marL="646727" algn="l" defTabSz="28799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9pPr>
    </p:titleStyle>
    <p:bodyStyle>
      <a:lvl1pPr marL="83344" indent="-83344" algn="l" defTabSz="286941" rtl="0" fontAlgn="base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9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202406" indent="-404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2pPr>
      <a:lvl3pPr marL="322660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3pPr>
      <a:lvl4pPr marL="442913" indent="404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4pPr>
      <a:lvl5pPr marL="566738" indent="785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5pPr>
      <a:lvl6pPr marL="729231" algn="l" defTabSz="287992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6pPr>
      <a:lvl7pPr marL="890930" algn="l" defTabSz="287992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7pPr>
      <a:lvl8pPr marL="1052609" algn="l" defTabSz="287992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8pPr>
      <a:lvl9pPr marL="1214289" algn="l" defTabSz="287992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61676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23366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5031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46727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08405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70082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31764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3451" algn="l" defTabSz="323366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25" y="295275"/>
            <a:ext cx="87725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vert="horz" wrap="square" lIns="91526" tIns="45764" rIns="91526" bIns="4576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Slide Title</a:t>
            </a:r>
          </a:p>
        </p:txBody>
      </p:sp>
      <p:sp>
        <p:nvSpPr>
          <p:cNvPr id="13315" name="Rectangle 6282"/>
          <p:cNvSpPr>
            <a:spLocks noChangeArrowheads="1"/>
          </p:cNvSpPr>
          <p:nvPr/>
        </p:nvSpPr>
        <p:spPr bwMode="auto">
          <a:xfrm>
            <a:off x="8787966" y="5047396"/>
            <a:ext cx="129022" cy="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962" tIns="14477" rIns="28962" bIns="14477" anchor="b">
            <a:spAutoFit/>
          </a:bodyPr>
          <a:lstStyle>
            <a:lvl1pPr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r" defTabSz="28694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09FC4A-3555-4704-A7F2-7A7041323C0B}" type="slidenum">
              <a:rPr kumimoji="0" lang="en-US" altLang="zh-CN" sz="4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pPr marL="0" marR="0" lvl="0" indent="0" algn="r" defTabSz="28694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4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3316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2732" y="1154911"/>
            <a:ext cx="8734425" cy="3694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526" tIns="45764" rIns="91526" bIns="457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3317" name="Rectangle 6312"/>
          <p:cNvSpPr>
            <a:spLocks noChangeArrowheads="1"/>
          </p:cNvSpPr>
          <p:nvPr/>
        </p:nvSpPr>
        <p:spPr bwMode="auto">
          <a:xfrm>
            <a:off x="4105535" y="5047851"/>
            <a:ext cx="1001713" cy="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962" tIns="14477" rIns="28962" bIns="14477" anchor="b" anchorCtr="1">
            <a:spAutoFit/>
          </a:bodyPr>
          <a:lstStyle>
            <a:lvl1pPr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25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28694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" b="1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北京邮电大学思科网络技术学院</a:t>
            </a:r>
            <a:endParaRPr kumimoji="0" lang="en-US" altLang="zh-CN" sz="450" b="1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73910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gradFill>
            <a:gsLst>
              <a:gs pos="16000">
                <a:srgbClr val="6B308D">
                  <a:lumMod val="80000"/>
                  <a:lumOff val="20000"/>
                </a:srgbClr>
              </a:gs>
              <a:gs pos="100000">
                <a:srgbClr val="28A7DF"/>
              </a:gs>
            </a:gsLst>
            <a:lin ang="1800000" scaled="0"/>
          </a:gra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S PGothic" pitchFamily="34" charset="-128"/>
          <a:cs typeface="ＭＳ Ｐゴシック" charset="0"/>
        </a:defRPr>
      </a:lvl1pPr>
      <a:lvl2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2pPr>
      <a:lvl3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3pPr>
      <a:lvl4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4pPr>
      <a:lvl5pPr algn="l" defTabSz="28694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5pPr>
      <a:lvl6pPr marL="161739" algn="l" defTabSz="28810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6pPr>
      <a:lvl7pPr marL="323489" algn="l" defTabSz="28810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7pPr>
      <a:lvl8pPr marL="485220" algn="l" defTabSz="28810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8pPr>
      <a:lvl9pPr marL="646975" algn="l" defTabSz="28810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9pPr>
    </p:titleStyle>
    <p:bodyStyle>
      <a:lvl1pPr marL="83344" indent="-83344" algn="l" defTabSz="286941" rtl="0" fontAlgn="base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9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202406" indent="-404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2pPr>
      <a:lvl3pPr marL="322660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3pPr>
      <a:lvl4pPr marL="442913" indent="404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4pPr>
      <a:lvl5pPr marL="566738" indent="78581" algn="l" defTabSz="28694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5pPr>
      <a:lvl6pPr marL="729515" algn="l" defTabSz="288103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6pPr>
      <a:lvl7pPr marL="891272" algn="l" defTabSz="288103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7pPr>
      <a:lvl8pPr marL="1053012" algn="l" defTabSz="288103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8pPr>
      <a:lvl9pPr marL="1214756" algn="l" defTabSz="288103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61739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23489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5220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46975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08715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70455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32198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3947" algn="l" defTabSz="323489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25" y="295275"/>
            <a:ext cx="87725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vert="horz" wrap="square" lIns="91644" tIns="45822" rIns="91644" bIns="4582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Slide Title</a:t>
            </a:r>
          </a:p>
        </p:txBody>
      </p:sp>
      <p:sp>
        <p:nvSpPr>
          <p:cNvPr id="14339" name="Rectangle 6282"/>
          <p:cNvSpPr>
            <a:spLocks noChangeArrowheads="1"/>
          </p:cNvSpPr>
          <p:nvPr/>
        </p:nvSpPr>
        <p:spPr bwMode="auto">
          <a:xfrm>
            <a:off x="8787892" y="5047355"/>
            <a:ext cx="129097" cy="98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999" tIns="14497" rIns="28999" bIns="14497" anchor="b">
            <a:spAutoFit/>
          </a:bodyPr>
          <a:lstStyle>
            <a:lvl1pPr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41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41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41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41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r" defTabSz="2881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D7C769-28ED-44C1-81D1-4F6AEE229BFE}" type="slidenum">
              <a:rPr kumimoji="0" lang="en-US" altLang="zh-CN" sz="4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pPr marL="0" marR="0" lvl="0" indent="0" algn="r" defTabSz="28813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4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4340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2732" y="1154911"/>
            <a:ext cx="8734425" cy="3694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644" tIns="45822" rIns="91644" bIns="458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4341" name="Rectangle 6312"/>
          <p:cNvSpPr>
            <a:spLocks noChangeArrowheads="1"/>
          </p:cNvSpPr>
          <p:nvPr/>
        </p:nvSpPr>
        <p:spPr bwMode="auto">
          <a:xfrm>
            <a:off x="4105535" y="5047803"/>
            <a:ext cx="1001713" cy="98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999" tIns="14497" rIns="28999" bIns="14497" anchor="b" anchorCtr="1">
            <a:spAutoFit/>
          </a:bodyPr>
          <a:lstStyle>
            <a:lvl1pPr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742950" indent="-285750"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1143000" indent="-228600"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600200" indent="-228600"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2057400" indent="-228600" defTabSz="384175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514600" indent="-228600" defTabSz="3841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971800" indent="-228600" defTabSz="3841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429000" indent="-228600" defTabSz="3841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886200" indent="-228600" defTabSz="3841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2881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" b="1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北京邮电大学思科网络技术学院</a:t>
            </a:r>
            <a:endParaRPr kumimoji="0" lang="en-US" altLang="zh-CN" sz="450" b="1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175975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28813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gradFill>
            <a:gsLst>
              <a:gs pos="16000">
                <a:srgbClr val="6B308D">
                  <a:lumMod val="80000"/>
                  <a:lumOff val="20000"/>
                </a:srgbClr>
              </a:gs>
              <a:gs pos="100000">
                <a:srgbClr val="28A7DF"/>
              </a:gs>
            </a:gsLst>
            <a:lin ang="1800000" scaled="0"/>
          </a:gra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S PGothic" pitchFamily="34" charset="-128"/>
          <a:cs typeface="ＭＳ Ｐゴシック" charset="0"/>
        </a:defRPr>
      </a:lvl1pPr>
      <a:lvl2pPr algn="l" defTabSz="28813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2pPr>
      <a:lvl3pPr algn="l" defTabSz="28813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3pPr>
      <a:lvl4pPr algn="l" defTabSz="28813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4pPr>
      <a:lvl5pPr algn="l" defTabSz="288131" rtl="0" fontAlgn="base">
        <a:lnSpc>
          <a:spcPct val="90000"/>
        </a:lnSpc>
        <a:spcBef>
          <a:spcPct val="0"/>
        </a:spcBef>
        <a:spcAft>
          <a:spcPct val="0"/>
        </a:spcAft>
        <a:defRPr sz="1200" b="1">
          <a:solidFill>
            <a:schemeClr val="tx1"/>
          </a:solidFill>
          <a:latin typeface="Consolas" pitchFamily="49" charset="0"/>
          <a:ea typeface="MS PGothic" pitchFamily="34" charset="-128"/>
          <a:cs typeface="ＭＳ Ｐゴシック" charset="0"/>
        </a:defRPr>
      </a:lvl5pPr>
      <a:lvl6pPr marL="161813" algn="l" defTabSz="28823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6pPr>
      <a:lvl7pPr marL="323633" algn="l" defTabSz="28823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7pPr>
      <a:lvl8pPr marL="485441" algn="l" defTabSz="28823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8pPr>
      <a:lvl9pPr marL="647264" algn="l" defTabSz="28823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25" b="1">
          <a:solidFill>
            <a:srgbClr val="708CA1"/>
          </a:solidFill>
          <a:latin typeface="Arial" charset="0"/>
        </a:defRPr>
      </a:lvl9pPr>
    </p:titleStyle>
    <p:bodyStyle>
      <a:lvl1pPr marL="83344" indent="-83344" algn="l" defTabSz="288131" rtl="0" fontAlgn="base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9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202406" indent="-40481" algn="l" defTabSz="28813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2pPr>
      <a:lvl3pPr marL="322660" algn="l" defTabSz="28813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3pPr>
      <a:lvl4pPr marL="442913" indent="40481" algn="l" defTabSz="28813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4pPr>
      <a:lvl5pPr marL="567929" indent="78581" algn="l" defTabSz="28813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  <a:ea typeface="MS PGothic" pitchFamily="34" charset="-128"/>
        </a:defRPr>
      </a:lvl5pPr>
      <a:lvl6pPr marL="729845" algn="l" defTabSz="288233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6pPr>
      <a:lvl7pPr marL="891671" algn="l" defTabSz="288233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7pPr>
      <a:lvl8pPr marL="1053485" algn="l" defTabSz="288233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8pPr>
      <a:lvl9pPr marL="1215301" algn="l" defTabSz="288233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67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61813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23633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5441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47264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09078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70890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32704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4526" algn="l" defTabSz="3236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1" y="341314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56123" y="4771814"/>
            <a:ext cx="177999" cy="1256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0039" tIns="25019" rIns="50039" bIns="25019" anchor="b">
            <a:spAutoFit/>
          </a:bodyPr>
          <a:lstStyle/>
          <a:p>
            <a:pPr marL="0" marR="0" lvl="0" indent="0" algn="r" defTabSz="496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1E46DC-7EF6-4EA2-B285-14272867D133}" type="slidenum"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Arial"/>
                <a:ea typeface="ＭＳ Ｐゴシック" pitchFamily="34" charset="-128"/>
                <a:cs typeface="CiscoSans Thin"/>
              </a:rPr>
              <a:pPr marL="0" marR="0" lvl="0" indent="0" algn="r" defTabSz="4962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488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Arial"/>
              <a:ea typeface="ＭＳ Ｐゴシック" pitchFamily="34" charset="-128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70560"/>
            <a:ext cx="2658018" cy="12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039" tIns="25019" rIns="50039" bIns="25019" anchor="b">
            <a:spAutoFit/>
          </a:bodyPr>
          <a:lstStyle/>
          <a:p>
            <a:pPr marL="0" marR="0" lvl="0" indent="0" algn="l" defTabSz="496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8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CiscoSans Thin"/>
              </a:rPr>
              <a:t>© 2016 </a:t>
            </a:r>
            <a:r>
              <a:rPr kumimoji="0" lang="zh-CN" altLang="en-US" sz="488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CiscoSans Thin"/>
              </a:rPr>
              <a:t>思科和</a:t>
            </a:r>
            <a:r>
              <a:rPr kumimoji="0" lang="en-US" altLang="zh-CN" sz="488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CiscoSans Thin"/>
              </a:rPr>
              <a:t>/</a:t>
            </a:r>
            <a:r>
              <a:rPr kumimoji="0" lang="zh-CN" altLang="en-US" sz="488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CiscoSans Thin"/>
              </a:rPr>
              <a:t>或其附属公司。版权所有。思科机密信息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40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7146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58585B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841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8" r:id="rId13"/>
  </p:sldLayoutIdLst>
  <p:transition spd="slow">
    <p:wipe/>
  </p:transition>
  <p:txStyles>
    <p:titleStyle>
      <a:lvl1pPr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26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6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6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6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6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371464"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600">
          <a:solidFill>
            <a:srgbClr val="676767"/>
          </a:solidFill>
          <a:latin typeface="Arial" charset="0"/>
          <a:ea typeface="ＭＳ Ｐゴシック" charset="0"/>
        </a:defRPr>
      </a:lvl6pPr>
      <a:lvl7pPr marL="742928"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600">
          <a:solidFill>
            <a:srgbClr val="676767"/>
          </a:solidFill>
          <a:latin typeface="Arial" charset="0"/>
          <a:ea typeface="ＭＳ Ｐゴシック" charset="0"/>
        </a:defRPr>
      </a:lvl7pPr>
      <a:lvl8pPr marL="1114391"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600">
          <a:solidFill>
            <a:srgbClr val="676767"/>
          </a:solidFill>
          <a:latin typeface="Arial" charset="0"/>
          <a:ea typeface="ＭＳ Ｐゴシック" charset="0"/>
        </a:defRPr>
      </a:lvl8pPr>
      <a:lvl9pPr marL="1485854" algn="l" defTabSz="55590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6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38010" indent="-138010" algn="l" defTabSz="555906" rtl="0" eaLnBrk="1" fontAlgn="base" hangingPunct="1">
        <a:lnSpc>
          <a:spcPct val="95000"/>
        </a:lnSpc>
        <a:spcBef>
          <a:spcPts val="874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219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291496" indent="-175413" algn="l" defTabSz="555906" rtl="0" eaLnBrk="1" fontAlgn="base" hangingPunct="1">
        <a:lnSpc>
          <a:spcPct val="95000"/>
        </a:lnSpc>
        <a:spcBef>
          <a:spcPts val="488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138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350827" indent="-138010" algn="l" defTabSz="555906" rtl="0" eaLnBrk="1" fontAlgn="base" hangingPunct="1">
        <a:lnSpc>
          <a:spcPct val="95000"/>
        </a:lnSpc>
        <a:spcBef>
          <a:spcPts val="508"/>
        </a:spcBef>
        <a:spcAft>
          <a:spcPct val="0"/>
        </a:spcAft>
        <a:buFont typeface="Arial" charset="0"/>
        <a:buChar char="•"/>
        <a:defRPr lang="en-US" sz="975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408869" indent="-138010" algn="l" defTabSz="555906" rtl="0" eaLnBrk="1" fontAlgn="base" hangingPunct="1">
        <a:lnSpc>
          <a:spcPct val="95000"/>
        </a:lnSpc>
        <a:spcBef>
          <a:spcPts val="508"/>
        </a:spcBef>
        <a:spcAft>
          <a:spcPct val="0"/>
        </a:spcAft>
        <a:buFont typeface="Arial" charset="0"/>
        <a:buChar char="•"/>
        <a:defRPr lang="en-US" sz="894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466909" indent="-138010" algn="l" defTabSz="555906" rtl="0" eaLnBrk="1" fontAlgn="base" hangingPunct="1">
        <a:lnSpc>
          <a:spcPct val="95000"/>
        </a:lnSpc>
        <a:spcBef>
          <a:spcPts val="508"/>
        </a:spcBef>
        <a:spcAft>
          <a:spcPct val="0"/>
        </a:spcAft>
        <a:buFont typeface="Arial" charset="0"/>
        <a:buChar char="•"/>
        <a:defRPr lang="en-US" sz="894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701861" indent="-139295" algn="l" defTabSz="557177" rtl="0" eaLnBrk="1" latinLnBrk="0" hangingPunct="1">
        <a:spcBef>
          <a:spcPts val="488"/>
        </a:spcBef>
        <a:buFont typeface="Arial" pitchFamily="34" charset="0"/>
        <a:buChar char="•"/>
        <a:defRPr sz="731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60350" indent="-139276" algn="l" defTabSz="557177" rtl="0" eaLnBrk="1" latinLnBrk="0" hangingPunct="1">
        <a:spcBef>
          <a:spcPts val="488"/>
        </a:spcBef>
        <a:buFont typeface="Arial" pitchFamily="34" charset="0"/>
        <a:buChar char="•"/>
        <a:defRPr sz="6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50119" indent="0" algn="l" defTabSz="557177" rtl="0" eaLnBrk="1" latinLnBrk="0" hangingPunct="1">
        <a:spcBef>
          <a:spcPct val="20000"/>
        </a:spcBef>
        <a:buFont typeface="Arial" pitchFamily="34" charset="0"/>
        <a:buNone/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368001" indent="-139295" algn="l" defTabSz="557177" rtl="0" eaLnBrk="1" latinLnBrk="0" hangingPunct="1">
        <a:spcBef>
          <a:spcPct val="20000"/>
        </a:spcBef>
        <a:buFont typeface="Arial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1pPr>
      <a:lvl2pPr marL="278586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2pPr>
      <a:lvl3pPr marL="557177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3pPr>
      <a:lvl4pPr marL="835765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4pPr>
      <a:lvl5pPr marL="1114355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5pPr>
      <a:lvl6pPr marL="1392941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6pPr>
      <a:lvl7pPr marL="1671531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7pPr>
      <a:lvl8pPr marL="1950119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8pPr>
      <a:lvl9pPr marL="2228708" algn="l" defTabSz="55717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336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180975"/>
            <a:ext cx="8145462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1678339" name="Rectangle 3"/>
          <p:cNvSpPr>
            <a:spLocks noChangeArrowheads="1"/>
          </p:cNvSpPr>
          <p:nvPr/>
        </p:nvSpPr>
        <p:spPr bwMode="auto">
          <a:xfrm>
            <a:off x="0" y="418"/>
            <a:ext cx="9144000" cy="136922"/>
          </a:xfrm>
          <a:prstGeom prst="rect">
            <a:avLst/>
          </a:prstGeom>
          <a:solidFill>
            <a:srgbClr val="708CA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+mn-cs"/>
            </a:endParaRPr>
          </a:p>
        </p:txBody>
      </p:sp>
      <p:sp>
        <p:nvSpPr>
          <p:cNvPr id="1678340" name="Rectangle 4"/>
          <p:cNvSpPr>
            <a:spLocks noChangeArrowheads="1"/>
          </p:cNvSpPr>
          <p:nvPr/>
        </p:nvSpPr>
        <p:spPr bwMode="auto">
          <a:xfrm>
            <a:off x="1150944" y="5002897"/>
            <a:ext cx="1525414" cy="142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593" tIns="30796" rIns="61593" bIns="30796" anchor="b" anchorCtr="1">
            <a:spAutoFit/>
          </a:bodyPr>
          <a:lstStyle>
            <a:lvl1pPr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406400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814388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222375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1630363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6107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25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© 2008 Cisco Systems, Inc. All rights reserved.</a:t>
            </a:r>
          </a:p>
        </p:txBody>
      </p:sp>
      <p:sp>
        <p:nvSpPr>
          <p:cNvPr id="1678341" name="Rectangle 5"/>
          <p:cNvSpPr>
            <a:spLocks noChangeArrowheads="1"/>
          </p:cNvSpPr>
          <p:nvPr/>
        </p:nvSpPr>
        <p:spPr bwMode="auto">
          <a:xfrm>
            <a:off x="3560154" y="5002897"/>
            <a:ext cx="491476" cy="142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593" tIns="30796" rIns="61593" bIns="30796" anchor="b">
            <a:spAutoFit/>
          </a:bodyPr>
          <a:lstStyle>
            <a:lvl1pPr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406400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814388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222375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1630363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r" defTabSz="6107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25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Cisco Public</a:t>
            </a:r>
          </a:p>
        </p:txBody>
      </p:sp>
      <p:sp>
        <p:nvSpPr>
          <p:cNvPr id="1678342" name="Rectangle 6"/>
          <p:cNvSpPr>
            <a:spLocks noChangeArrowheads="1"/>
          </p:cNvSpPr>
          <p:nvPr/>
        </p:nvSpPr>
        <p:spPr bwMode="auto">
          <a:xfrm>
            <a:off x="193676" y="5002897"/>
            <a:ext cx="962025" cy="142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593" tIns="30796" rIns="61593" bIns="30796" anchor="b">
            <a:spAutoFit/>
          </a:bodyPr>
          <a:lstStyle>
            <a:lvl1pPr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406400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814388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222375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1630363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l" defTabSz="6107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25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CCNA rev 6</a:t>
            </a:r>
          </a:p>
        </p:txBody>
      </p:sp>
      <p:sp>
        <p:nvSpPr>
          <p:cNvPr id="1678343" name="Rectangle 7"/>
          <p:cNvSpPr>
            <a:spLocks noChangeArrowheads="1"/>
          </p:cNvSpPr>
          <p:nvPr/>
        </p:nvSpPr>
        <p:spPr bwMode="auto">
          <a:xfrm>
            <a:off x="8675581" y="4968271"/>
            <a:ext cx="241408" cy="177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593" tIns="30796" rIns="61593" bIns="30796" anchor="b">
            <a:spAutoFit/>
          </a:bodyPr>
          <a:lstStyle>
            <a:lvl1pPr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1pPr>
            <a:lvl2pPr marL="406400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marL="814388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marL="1222375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marL="1630363" defTabSz="814388" eaLnBrk="0" hangingPunct="0"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marL="0" marR="0" lvl="0" indent="0" algn="r" defTabSz="6107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423FFE-A430-49A4-B790-E710A45CA4A6}" type="slidenum">
              <a:rPr kumimoji="0" lang="zh-CN" altLang="en-US" sz="750" b="0" i="0" u="none" strike="noStrike" kern="1200" cap="none" spc="0" normalizeH="0" baseline="0" noProof="0" smtClean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61079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750" b="0" i="0" u="none" strike="noStrike" kern="1200" cap="none" spc="0" normalizeH="0" baseline="0" noProof="0" smtClean="0">
              <a:ln>
                <a:noFill/>
              </a:ln>
              <a:solidFill>
                <a:srgbClr val="D3D3D3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7834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8338" y="979112"/>
            <a:ext cx="7940675" cy="2678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pic>
        <p:nvPicPr>
          <p:cNvPr id="1678345" name="Picture 9" descr="CNA-B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418"/>
            <a:ext cx="3765550" cy="13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52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pitchFamily="34" charset="0"/>
          <a:ea typeface="宋体" pitchFamily="2" charset="-122"/>
        </a:defRPr>
      </a:lvl2pPr>
      <a:lvl3pPr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pitchFamily="34" charset="0"/>
          <a:ea typeface="宋体" pitchFamily="2" charset="-122"/>
        </a:defRPr>
      </a:lvl3pPr>
      <a:lvl4pPr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pitchFamily="34" charset="0"/>
          <a:ea typeface="宋体" pitchFamily="2" charset="-122"/>
        </a:defRPr>
      </a:lvl4pPr>
      <a:lvl5pPr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pitchFamily="34" charset="0"/>
          <a:ea typeface="宋体" pitchFamily="2" charset="-122"/>
        </a:defRPr>
      </a:lvl5pPr>
      <a:lvl6pPr marL="3429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pitchFamily="34" charset="0"/>
          <a:ea typeface="宋体" pitchFamily="2" charset="-122"/>
        </a:defRPr>
      </a:lvl6pPr>
      <a:lvl7pPr marL="6858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pitchFamily="34" charset="0"/>
          <a:ea typeface="宋体" pitchFamily="2" charset="-122"/>
        </a:defRPr>
      </a:lvl7pPr>
      <a:lvl8pPr marL="10287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pitchFamily="34" charset="0"/>
          <a:ea typeface="宋体" pitchFamily="2" charset="-122"/>
        </a:defRPr>
      </a:lvl8pPr>
      <a:lvl9pPr marL="1371600" algn="l" defTabSz="610791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pitchFamily="34" charset="0"/>
          <a:ea typeface="宋体" pitchFamily="2" charset="-122"/>
        </a:defRPr>
      </a:lvl9pPr>
    </p:titleStyle>
    <p:bodyStyle>
      <a:lvl1pPr marL="177404" indent="-177404" algn="l" defTabSz="610791" rtl="0" fontAlgn="base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31006" algn="l" defTabSz="61079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0000FF"/>
        </a:buClr>
        <a:buFont typeface="仿宋_GB2312" pitchFamily="49" charset="-122"/>
        <a:buChar char="-"/>
        <a:defRPr sz="1500">
          <a:solidFill>
            <a:schemeClr val="tx1"/>
          </a:solidFill>
          <a:latin typeface="+mn-lt"/>
          <a:ea typeface="+mn-ea"/>
        </a:defRPr>
      </a:lvl2pPr>
      <a:lvl3pPr marL="685800" algn="l" defTabSz="61079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Font typeface="Wingdings" pitchFamily="2" charset="2"/>
        <a:buChar char="Ø"/>
        <a:defRPr sz="1500">
          <a:solidFill>
            <a:schemeClr val="tx1"/>
          </a:solidFill>
          <a:latin typeface="+mn-lt"/>
          <a:ea typeface="+mn-ea"/>
        </a:defRPr>
      </a:lvl3pPr>
      <a:lvl4pPr marL="940594" algn="l" defTabSz="61079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  <a:ea typeface="+mn-ea"/>
        </a:defRPr>
      </a:lvl4pPr>
      <a:lvl5pPr marL="1203722" algn="l" defTabSz="61079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  <a:ea typeface="+mn-ea"/>
        </a:defRPr>
      </a:lvl5pPr>
      <a:lvl6pPr marL="1546622" algn="l" defTabSz="61079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  <a:ea typeface="+mn-ea"/>
        </a:defRPr>
      </a:lvl6pPr>
      <a:lvl7pPr marL="1889522" algn="l" defTabSz="61079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  <a:ea typeface="+mn-ea"/>
        </a:defRPr>
      </a:lvl7pPr>
      <a:lvl8pPr marL="2232422" algn="l" defTabSz="61079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  <a:ea typeface="+mn-ea"/>
        </a:defRPr>
      </a:lvl8pPr>
      <a:lvl9pPr marL="2575322" algn="l" defTabSz="610791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8" y="180975"/>
            <a:ext cx="8145462" cy="414248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章 补充</a:t>
            </a:r>
            <a:r>
              <a:rPr lang="en-US" altLang="zh-CN" dirty="0"/>
              <a:t>1 </a:t>
            </a:r>
            <a:r>
              <a:rPr lang="zh-CN" altLang="en-US" dirty="0"/>
              <a:t>综合</a:t>
            </a:r>
            <a:r>
              <a:rPr lang="zh-CN" altLang="en-US" dirty="0" smtClean="0"/>
              <a:t>应用题（</a:t>
            </a:r>
            <a:r>
              <a:rPr lang="en-US" altLang="zh-CN" dirty="0" smtClean="0"/>
              <a:t>2009</a:t>
            </a:r>
            <a:r>
              <a:rPr lang="zh-CN" altLang="en-US" dirty="0" smtClean="0"/>
              <a:t>） </a:t>
            </a:r>
            <a:endParaRPr lang="zh-CN" altLang="en-US" dirty="0"/>
          </a:p>
        </p:txBody>
      </p:sp>
      <p:sp>
        <p:nvSpPr>
          <p:cNvPr id="168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671" y="595224"/>
            <a:ext cx="8635041" cy="1915063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zh-CN" altLang="en-US" sz="1500" dirty="0"/>
              <a:t>某公司网络拓扑图如下图所示，路由器</a:t>
            </a:r>
            <a:r>
              <a:rPr lang="en-US" altLang="zh-CN" sz="1500" dirty="0"/>
              <a:t>R1</a:t>
            </a:r>
            <a:r>
              <a:rPr lang="zh-CN" altLang="en-US" sz="1500" dirty="0"/>
              <a:t>通过接口</a:t>
            </a:r>
            <a:r>
              <a:rPr lang="en-US" altLang="zh-CN" sz="1500" dirty="0"/>
              <a:t>E1</a:t>
            </a:r>
            <a:r>
              <a:rPr lang="zh-CN" altLang="en-US" sz="1500" dirty="0"/>
              <a:t>、</a:t>
            </a:r>
            <a:r>
              <a:rPr lang="en-US" altLang="zh-CN" sz="1500" dirty="0"/>
              <a:t>E2</a:t>
            </a:r>
            <a:r>
              <a:rPr lang="zh-CN" altLang="en-US" sz="1500" dirty="0"/>
              <a:t>分别连接局域网</a:t>
            </a:r>
            <a:r>
              <a:rPr lang="en-US" altLang="zh-CN" sz="1500" dirty="0"/>
              <a:t>1</a:t>
            </a:r>
            <a:r>
              <a:rPr lang="zh-CN" altLang="en-US" sz="1500" dirty="0"/>
              <a:t>、局域网</a:t>
            </a:r>
            <a:r>
              <a:rPr lang="en-US" altLang="zh-CN" sz="1500" dirty="0"/>
              <a:t>2</a:t>
            </a:r>
            <a:r>
              <a:rPr lang="zh-CN" altLang="en-US" sz="1500" dirty="0"/>
              <a:t>，通过接口</a:t>
            </a:r>
            <a:r>
              <a:rPr lang="en-US" altLang="zh-CN" sz="1500" dirty="0"/>
              <a:t>L0</a:t>
            </a:r>
            <a:r>
              <a:rPr lang="zh-CN" altLang="en-US" sz="1500" dirty="0"/>
              <a:t>连接路由器</a:t>
            </a:r>
            <a:r>
              <a:rPr lang="en-US" altLang="zh-CN" sz="1500" dirty="0"/>
              <a:t>R2</a:t>
            </a:r>
            <a:r>
              <a:rPr lang="zh-CN" altLang="en-US" sz="1500" dirty="0"/>
              <a:t>，并通过路由器</a:t>
            </a:r>
            <a:r>
              <a:rPr lang="en-US" altLang="zh-CN" sz="1500" dirty="0"/>
              <a:t>R2</a:t>
            </a:r>
            <a:r>
              <a:rPr lang="zh-CN" altLang="en-US" sz="1500" dirty="0"/>
              <a:t>连接域名服务器与互联网</a:t>
            </a:r>
            <a:r>
              <a:rPr lang="zh-CN" altLang="en-US" sz="1500" dirty="0" smtClean="0"/>
              <a:t>。各个设备的接口地址如下所示：</a:t>
            </a:r>
            <a:endParaRPr lang="en-US" altLang="zh-CN" sz="1500" dirty="0" smtClean="0"/>
          </a:p>
          <a:p>
            <a:pPr>
              <a:lnSpc>
                <a:spcPct val="85000"/>
              </a:lnSpc>
            </a:pPr>
            <a:r>
              <a:rPr lang="pt-BR" altLang="zh-CN" sz="1500" dirty="0" smtClean="0"/>
              <a:t>R1</a:t>
            </a:r>
            <a:r>
              <a:rPr lang="zh-CN" altLang="en-US" sz="1500" dirty="0" smtClean="0"/>
              <a:t>：</a:t>
            </a:r>
            <a:r>
              <a:rPr lang="pt-BR" altLang="zh-CN" sz="1500" dirty="0" smtClean="0"/>
              <a:t>L0</a:t>
            </a:r>
            <a:r>
              <a:rPr lang="zh-CN" altLang="pt-BR" sz="1500" dirty="0" smtClean="0"/>
              <a:t>接口</a:t>
            </a:r>
            <a:r>
              <a:rPr lang="pt-BR" altLang="zh-CN" sz="1500" dirty="0" smtClean="0"/>
              <a:t>IP</a:t>
            </a:r>
            <a:r>
              <a:rPr lang="zh-CN" altLang="pt-BR" sz="1500" dirty="0" smtClean="0"/>
              <a:t>地址是</a:t>
            </a:r>
            <a:r>
              <a:rPr lang="pt-BR" altLang="zh-CN" sz="1500" dirty="0" smtClean="0"/>
              <a:t>2</a:t>
            </a:r>
            <a:r>
              <a:rPr lang="en-US" altLang="zh-CN" sz="1500" dirty="0" smtClean="0"/>
              <a:t>2</a:t>
            </a:r>
            <a:r>
              <a:rPr lang="pt-BR" altLang="zh-CN" sz="1500" dirty="0" smtClean="0"/>
              <a:t>2.118.2.1</a:t>
            </a:r>
            <a:r>
              <a:rPr lang="zh-CN" altLang="pt-BR" sz="1500" dirty="0" smtClean="0"/>
              <a:t>；</a:t>
            </a:r>
            <a:endParaRPr lang="en-US" altLang="zh-CN" sz="1500" dirty="0" smtClean="0"/>
          </a:p>
          <a:p>
            <a:pPr>
              <a:lnSpc>
                <a:spcPct val="85000"/>
              </a:lnSpc>
            </a:pPr>
            <a:r>
              <a:rPr lang="pt-BR" altLang="zh-CN" sz="1500" dirty="0" smtClean="0"/>
              <a:t>R2</a:t>
            </a:r>
            <a:r>
              <a:rPr lang="zh-CN" altLang="en-US" sz="1500" dirty="0" smtClean="0"/>
              <a:t>：</a:t>
            </a:r>
            <a:r>
              <a:rPr lang="pt-BR" altLang="zh-CN" sz="1500" dirty="0" smtClean="0"/>
              <a:t>L0</a:t>
            </a:r>
            <a:r>
              <a:rPr lang="zh-CN" altLang="pt-BR" sz="1500" dirty="0" smtClean="0"/>
              <a:t>接口</a:t>
            </a:r>
            <a:r>
              <a:rPr lang="pt-BR" altLang="zh-CN" sz="1500" dirty="0" smtClean="0"/>
              <a:t>IP</a:t>
            </a:r>
            <a:r>
              <a:rPr lang="zh-CN" altLang="pt-BR" sz="1500" dirty="0" smtClean="0"/>
              <a:t>地址是</a:t>
            </a:r>
            <a:r>
              <a:rPr lang="pt-BR" altLang="zh-CN" sz="1500" dirty="0" smtClean="0"/>
              <a:t>2</a:t>
            </a:r>
            <a:r>
              <a:rPr lang="en-US" altLang="zh-CN" sz="1500" dirty="0" smtClean="0"/>
              <a:t>2</a:t>
            </a:r>
            <a:r>
              <a:rPr lang="pt-BR" altLang="zh-CN" sz="1500" dirty="0" smtClean="0"/>
              <a:t>2.118.2.2</a:t>
            </a:r>
            <a:r>
              <a:rPr lang="zh-CN" altLang="pt-BR" sz="1500" dirty="0" smtClean="0"/>
              <a:t>，</a:t>
            </a:r>
            <a:r>
              <a:rPr lang="pt-BR" altLang="zh-CN" sz="1500" dirty="0" smtClean="0"/>
              <a:t>L1</a:t>
            </a:r>
            <a:r>
              <a:rPr lang="zh-CN" altLang="pt-BR" sz="1500" dirty="0" smtClean="0"/>
              <a:t>接口</a:t>
            </a:r>
            <a:r>
              <a:rPr lang="pt-BR" altLang="zh-CN" sz="1500" dirty="0" smtClean="0"/>
              <a:t>IP</a:t>
            </a:r>
            <a:r>
              <a:rPr lang="zh-CN" altLang="pt-BR" sz="1500" dirty="0" smtClean="0"/>
              <a:t>地址是</a:t>
            </a:r>
            <a:r>
              <a:rPr lang="pt-BR" altLang="zh-CN" sz="1500" dirty="0" smtClean="0"/>
              <a:t>130.11.120.1</a:t>
            </a:r>
            <a:r>
              <a:rPr lang="zh-CN" altLang="pt-BR" sz="1500" dirty="0" smtClean="0"/>
              <a:t>，</a:t>
            </a:r>
            <a:r>
              <a:rPr lang="pt-BR" altLang="zh-CN" sz="1500" dirty="0" smtClean="0"/>
              <a:t>E0</a:t>
            </a:r>
            <a:r>
              <a:rPr lang="zh-CN" altLang="pt-BR" sz="1500" dirty="0" smtClean="0"/>
              <a:t>接口</a:t>
            </a:r>
            <a:r>
              <a:rPr lang="en-US" altLang="zh-CN" sz="1500" dirty="0" smtClean="0"/>
              <a:t>IP</a:t>
            </a:r>
            <a:r>
              <a:rPr lang="zh-CN" altLang="en-US" sz="1500" dirty="0" smtClean="0"/>
              <a:t>地址是</a:t>
            </a:r>
            <a:r>
              <a:rPr lang="en-US" altLang="zh-CN" sz="1500" dirty="0" smtClean="0"/>
              <a:t>222.118.3.1</a:t>
            </a:r>
            <a:r>
              <a:rPr lang="zh-CN" altLang="en-US" sz="1500" dirty="0" smtClean="0"/>
              <a:t>；</a:t>
            </a:r>
            <a:endParaRPr lang="en-US" altLang="zh-CN" sz="1500" dirty="0" smtClean="0"/>
          </a:p>
          <a:p>
            <a:pPr>
              <a:lnSpc>
                <a:spcPct val="85000"/>
              </a:lnSpc>
            </a:pPr>
            <a:r>
              <a:rPr lang="zh-CN" altLang="en-US" sz="1500" dirty="0" smtClean="0"/>
              <a:t>域名服务器的</a:t>
            </a:r>
            <a:r>
              <a:rPr lang="en-US" altLang="zh-CN" sz="1500" dirty="0" smtClean="0"/>
              <a:t>IP</a:t>
            </a:r>
            <a:r>
              <a:rPr lang="zh-CN" altLang="en-US" sz="1500" dirty="0" smtClean="0"/>
              <a:t>地址是</a:t>
            </a:r>
            <a:r>
              <a:rPr lang="en-US" altLang="zh-CN" sz="1500" dirty="0" smtClean="0"/>
              <a:t>222.118.3.2</a:t>
            </a:r>
            <a:r>
              <a:rPr lang="zh-CN" altLang="en-US" sz="1500" dirty="0" smtClean="0"/>
              <a:t>。</a:t>
            </a:r>
          </a:p>
          <a:p>
            <a:pPr>
              <a:lnSpc>
                <a:spcPct val="85000"/>
              </a:lnSpc>
            </a:pPr>
            <a:r>
              <a:rPr lang="en-US" altLang="zh-CN" sz="1500" dirty="0" smtClean="0"/>
              <a:t>R1</a:t>
            </a:r>
            <a:r>
              <a:rPr lang="zh-CN" altLang="en-US" sz="1500" dirty="0"/>
              <a:t>和</a:t>
            </a:r>
            <a:r>
              <a:rPr lang="en-US" altLang="zh-CN" sz="1500" dirty="0"/>
              <a:t>R2</a:t>
            </a:r>
            <a:r>
              <a:rPr lang="zh-CN" altLang="en-US" sz="1500" dirty="0"/>
              <a:t>的路由表结构为： </a:t>
            </a:r>
            <a:r>
              <a:rPr lang="zh-CN" altLang="en-US" sz="1500" b="1" dirty="0" smtClean="0"/>
              <a:t>目的</a:t>
            </a:r>
            <a:r>
              <a:rPr lang="zh-CN" altLang="en-US" sz="1500" b="1" dirty="0"/>
              <a:t>网络</a:t>
            </a:r>
            <a:r>
              <a:rPr lang="en-US" altLang="zh-CN" sz="1500" b="1" dirty="0"/>
              <a:t>IP</a:t>
            </a:r>
            <a:r>
              <a:rPr lang="zh-CN" altLang="en-US" sz="1500" b="1" dirty="0"/>
              <a:t>地址	子网掩码	下一跳</a:t>
            </a:r>
            <a:r>
              <a:rPr lang="en-US" altLang="zh-CN" sz="1500" b="1" dirty="0"/>
              <a:t>IP</a:t>
            </a:r>
            <a:r>
              <a:rPr lang="zh-CN" altLang="en-US" sz="1500" b="1" dirty="0"/>
              <a:t>地址		接口</a:t>
            </a:r>
          </a:p>
        </p:txBody>
      </p:sp>
      <p:pic>
        <p:nvPicPr>
          <p:cNvPr id="1680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344" y="2355012"/>
            <a:ext cx="5874267" cy="263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582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综合应用题 </a:t>
            </a:r>
          </a:p>
        </p:txBody>
      </p:sp>
      <p:sp>
        <p:nvSpPr>
          <p:cNvPr id="1681411" name="Rectangle 3"/>
          <p:cNvSpPr>
            <a:spLocks noChangeArrowheads="1"/>
          </p:cNvSpPr>
          <p:nvPr/>
        </p:nvSpPr>
        <p:spPr bwMode="auto">
          <a:xfrm>
            <a:off x="655638" y="3004365"/>
            <a:ext cx="7427317" cy="1863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593" tIns="30796" rIns="61593" bIns="30796"/>
          <a:lstStyle>
            <a:lvl1pPr marL="236538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574675" defTabSz="814388">
              <a:lnSpc>
                <a:spcPct val="95000"/>
              </a:lnSpc>
              <a:spcBef>
                <a:spcPct val="35000"/>
              </a:spcBef>
              <a:buClr>
                <a:srgbClr val="0000FF"/>
              </a:buClr>
              <a:buFont typeface="仿宋_GB2312" pitchFamily="49" charset="-122"/>
              <a:buChar char="-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254125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1604963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062163" defTabSz="814388" fontAlgn="base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519363" defTabSz="814388" fontAlgn="base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2976563" defTabSz="814388" fontAlgn="base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433763" defTabSz="814388" fontAlgn="base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77404" marR="0" lvl="0" indent="-177404" algn="l" defTabSz="610791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0183B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（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1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）将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IP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地址空间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202.118.1.0/24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划分为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2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个子网，分别分配给局域网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1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、局域网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2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，每个局域网需分配的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IP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地址数不少于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120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个。请给出子网划分结果，说明理由或给出必要的计算过程。 </a:t>
            </a:r>
          </a:p>
          <a:p>
            <a:pPr marL="177404" marR="0" lvl="0" indent="-177404" algn="l" defTabSz="610791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0183B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（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2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）请给出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R1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的路由表，使其明确包括到局域网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1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的路由、局域网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2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的路由、域名服务器的主机路由和互联网的路由。 </a:t>
            </a:r>
          </a:p>
          <a:p>
            <a:pPr marL="177404" marR="0" lvl="0" indent="-177404" algn="l" defTabSz="610791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0183B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（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3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）请采用路由聚合技术，给出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R2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到局域网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1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和局域网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2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的路由。</a:t>
            </a:r>
          </a:p>
        </p:txBody>
      </p:sp>
      <p:pic>
        <p:nvPicPr>
          <p:cNvPr id="1681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280" y="789803"/>
            <a:ext cx="4573786" cy="205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744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  <a:r>
              <a:rPr lang="en-US" altLang="zh-CN" dirty="0"/>
              <a:t>2 </a:t>
            </a:r>
            <a:r>
              <a:rPr lang="zh-CN" altLang="en-US" dirty="0"/>
              <a:t>综合</a:t>
            </a:r>
            <a:r>
              <a:rPr lang="zh-CN" altLang="en-US" dirty="0" smtClean="0"/>
              <a:t>应用题（</a:t>
            </a:r>
            <a:r>
              <a:rPr lang="en-US" altLang="zh-CN" dirty="0" smtClean="0"/>
              <a:t>2013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68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1272" y="1006079"/>
            <a:ext cx="6962576" cy="375285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zh-CN" altLang="en-US"/>
              <a:t>假设</a:t>
            </a:r>
            <a:r>
              <a:rPr lang="en-US" altLang="zh-CN"/>
              <a:t>Internet</a:t>
            </a:r>
            <a:r>
              <a:rPr lang="zh-CN" altLang="en-US"/>
              <a:t>的两个自治系统构成的网络如题</a:t>
            </a:r>
            <a:r>
              <a:rPr lang="en-US" altLang="zh-CN"/>
              <a:t>47</a:t>
            </a:r>
            <a:r>
              <a:rPr lang="zh-CN" altLang="en-US"/>
              <a:t>图所示，自治系统</a:t>
            </a:r>
            <a:r>
              <a:rPr lang="en-US" altLang="zh-CN"/>
              <a:t>ASI</a:t>
            </a:r>
            <a:r>
              <a:rPr lang="zh-CN" altLang="en-US"/>
              <a:t>由路由器</a:t>
            </a:r>
            <a:r>
              <a:rPr lang="en-US" altLang="zh-CN"/>
              <a:t>R1</a:t>
            </a:r>
            <a:r>
              <a:rPr lang="zh-CN" altLang="en-US"/>
              <a:t>连接两个子网构成；自治系统</a:t>
            </a:r>
            <a:r>
              <a:rPr lang="en-US" altLang="zh-CN"/>
              <a:t>AS2</a:t>
            </a:r>
            <a:r>
              <a:rPr lang="zh-CN" altLang="en-US"/>
              <a:t>由路由器</a:t>
            </a:r>
            <a:r>
              <a:rPr lang="en-US" altLang="zh-CN"/>
              <a:t>R2</a:t>
            </a:r>
            <a:r>
              <a:rPr lang="zh-CN" altLang="en-US"/>
              <a:t>、</a:t>
            </a:r>
            <a:r>
              <a:rPr lang="en-US" altLang="zh-CN"/>
              <a:t>R3</a:t>
            </a:r>
            <a:r>
              <a:rPr lang="zh-CN" altLang="en-US"/>
              <a:t>互联并连接</a:t>
            </a:r>
            <a:r>
              <a:rPr lang="en-US" altLang="zh-CN"/>
              <a:t>3</a:t>
            </a:r>
            <a:r>
              <a:rPr lang="zh-CN" altLang="en-US"/>
              <a:t>个子网构成。各子网地址、</a:t>
            </a:r>
            <a:r>
              <a:rPr lang="en-US" altLang="zh-CN"/>
              <a:t>R2</a:t>
            </a:r>
            <a:r>
              <a:rPr lang="zh-CN" altLang="en-US"/>
              <a:t>的接口名、</a:t>
            </a:r>
            <a:r>
              <a:rPr lang="en-US" altLang="zh-CN"/>
              <a:t>R1</a:t>
            </a:r>
            <a:r>
              <a:rPr lang="zh-CN" altLang="en-US"/>
              <a:t>与</a:t>
            </a:r>
            <a:r>
              <a:rPr lang="en-US" altLang="zh-CN"/>
              <a:t>R3</a:t>
            </a:r>
            <a:r>
              <a:rPr lang="zh-CN" altLang="en-US"/>
              <a:t>的部分接口</a:t>
            </a:r>
            <a:r>
              <a:rPr lang="en-US" altLang="zh-CN"/>
              <a:t>IP</a:t>
            </a:r>
            <a:r>
              <a:rPr lang="zh-CN" altLang="en-US"/>
              <a:t>地址如题</a:t>
            </a:r>
            <a:r>
              <a:rPr lang="en-US" altLang="zh-CN"/>
              <a:t>47</a:t>
            </a:r>
            <a:r>
              <a:rPr lang="zh-CN" altLang="en-US"/>
              <a:t>图所示：</a:t>
            </a:r>
            <a:endParaRPr lang="zh-CN" altLang="en-US" sz="1500"/>
          </a:p>
          <a:p>
            <a:pPr>
              <a:lnSpc>
                <a:spcPct val="85000"/>
              </a:lnSpc>
            </a:pPr>
            <a:r>
              <a:rPr lang="zh-CN" altLang="en-US"/>
              <a:t> 回答下列问题。</a:t>
            </a:r>
          </a:p>
          <a:p>
            <a:pPr lvl="1">
              <a:lnSpc>
                <a:spcPct val="85000"/>
              </a:lnSpc>
              <a:buFont typeface="仿宋_GB2312" pitchFamily="49" charset="-122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）假设路由表结构如下表所示。请利用路由聚合技术，给出</a:t>
            </a:r>
            <a:r>
              <a:rPr lang="en-US" altLang="zh-CN"/>
              <a:t>R2</a:t>
            </a:r>
            <a:r>
              <a:rPr lang="zh-CN" altLang="en-US"/>
              <a:t>的路由表，要求包括到达题</a:t>
            </a:r>
            <a:r>
              <a:rPr lang="en-US" altLang="zh-CN"/>
              <a:t>47</a:t>
            </a:r>
            <a:r>
              <a:rPr lang="zh-CN" altLang="en-US"/>
              <a:t>图中所有子网的路由，且路由表中的路由项尽可能少。</a:t>
            </a:r>
          </a:p>
          <a:p>
            <a:pPr lvl="1">
              <a:lnSpc>
                <a:spcPct val="85000"/>
              </a:lnSpc>
              <a:buFont typeface="仿宋_GB2312" pitchFamily="49" charset="-122"/>
              <a:buNone/>
            </a:pPr>
            <a:endParaRPr lang="zh-CN" altLang="en-US"/>
          </a:p>
          <a:p>
            <a:pPr lvl="1">
              <a:lnSpc>
                <a:spcPct val="85000"/>
              </a:lnSpc>
              <a:buFont typeface="仿宋_GB2312" pitchFamily="49" charset="-122"/>
              <a:buNone/>
            </a:pPr>
            <a:endParaRPr lang="zh-CN" altLang="en-US"/>
          </a:p>
          <a:p>
            <a:pPr lvl="1">
              <a:lnSpc>
                <a:spcPct val="85000"/>
              </a:lnSpc>
              <a:buFont typeface="仿宋_GB2312" pitchFamily="49" charset="-122"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）若</a:t>
            </a:r>
            <a:r>
              <a:rPr lang="en-US" altLang="zh-CN"/>
              <a:t>R2</a:t>
            </a:r>
            <a:r>
              <a:rPr lang="zh-CN" altLang="en-US"/>
              <a:t>收到一个目的</a:t>
            </a:r>
            <a:r>
              <a:rPr lang="en-US" altLang="zh-CN"/>
              <a:t>IP</a:t>
            </a:r>
            <a:r>
              <a:rPr lang="zh-CN" altLang="en-US"/>
              <a:t>地址为</a:t>
            </a:r>
            <a:r>
              <a:rPr lang="en-US" altLang="zh-CN"/>
              <a:t>194.17.20.200</a:t>
            </a:r>
            <a:r>
              <a:rPr lang="zh-CN" altLang="en-US"/>
              <a:t>的</a:t>
            </a:r>
            <a:r>
              <a:rPr lang="en-US" altLang="zh-CN"/>
              <a:t>IP</a:t>
            </a:r>
            <a:r>
              <a:rPr lang="zh-CN" altLang="en-US"/>
              <a:t>分组，</a:t>
            </a:r>
            <a:r>
              <a:rPr lang="en-US" altLang="zh-CN"/>
              <a:t>R2</a:t>
            </a:r>
            <a:r>
              <a:rPr lang="zh-CN" altLang="en-US"/>
              <a:t>会通过哪个接口转发该</a:t>
            </a:r>
            <a:r>
              <a:rPr lang="en-US" altLang="zh-CN"/>
              <a:t>IP</a:t>
            </a:r>
            <a:r>
              <a:rPr lang="zh-CN" altLang="en-US"/>
              <a:t>分组？ </a:t>
            </a:r>
          </a:p>
          <a:p>
            <a:pPr lvl="1">
              <a:lnSpc>
                <a:spcPct val="85000"/>
              </a:lnSpc>
              <a:buFont typeface="仿宋_GB2312" pitchFamily="49" charset="-122"/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R1</a:t>
            </a:r>
            <a:r>
              <a:rPr lang="zh-CN" altLang="en-US"/>
              <a:t>与</a:t>
            </a:r>
            <a:r>
              <a:rPr lang="en-US" altLang="zh-CN"/>
              <a:t>R2</a:t>
            </a:r>
            <a:r>
              <a:rPr lang="zh-CN" altLang="en-US"/>
              <a:t>之间利用哪个路由协议交换路由信息？该路由协议的报文被封装到哪个协议的分组中进行传输？</a:t>
            </a:r>
          </a:p>
        </p:txBody>
      </p:sp>
      <p:pic>
        <p:nvPicPr>
          <p:cNvPr id="1682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638" y="3057525"/>
            <a:ext cx="5604371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95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9956" y="180975"/>
            <a:ext cx="6618188" cy="338138"/>
          </a:xfrm>
        </p:spPr>
        <p:txBody>
          <a:bodyPr/>
          <a:lstStyle/>
          <a:p>
            <a:endParaRPr lang="zh-CN" altLang="en-US" sz="2100"/>
          </a:p>
        </p:txBody>
      </p:sp>
      <p:pic>
        <p:nvPicPr>
          <p:cNvPr id="1683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72" y="465952"/>
            <a:ext cx="5280620" cy="302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98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补充</a:t>
            </a:r>
            <a:r>
              <a:rPr lang="en-US" altLang="zh-CN" dirty="0" smtClean="0"/>
              <a:t>3 </a:t>
            </a:r>
            <a:r>
              <a:rPr lang="zh-CN" altLang="en-US" dirty="0"/>
              <a:t>综合</a:t>
            </a:r>
            <a:r>
              <a:rPr lang="zh-CN" altLang="en-US" dirty="0" smtClean="0"/>
              <a:t>应用题（</a:t>
            </a:r>
            <a:r>
              <a:rPr lang="en-US" altLang="zh-CN" dirty="0" smtClean="0"/>
              <a:t>2019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68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676" y="997201"/>
            <a:ext cx="8632424" cy="3734597"/>
          </a:xfrm>
        </p:spPr>
        <p:txBody>
          <a:bodyPr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某网络拓扑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如图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所示，其中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为路由器，主机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H4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地址配置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以及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的各接口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地址配置如图中所示。现有若干以太网交换机（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VLAN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功能）和路由器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两类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网络互连设备可供选择。请回答下列问题：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）设备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、设备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和设备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分别应选择什么类型的网络设备？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）设备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、设备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和设备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中，哪几个设备的接口需要配置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地址？为对应的接口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配置正确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地址。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）为确保主机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H4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能够访问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需要提供什么服务？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）若主机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H3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发送一个目的地址为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192.168.1.127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数据报，网络中哪几个主机会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接收该数据报？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362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9956" y="180975"/>
            <a:ext cx="6618188" cy="338138"/>
          </a:xfrm>
        </p:spPr>
        <p:txBody>
          <a:bodyPr/>
          <a:lstStyle/>
          <a:p>
            <a:r>
              <a:rPr lang="zh-CN" altLang="en-US" sz="2000" dirty="0"/>
              <a:t>补充</a:t>
            </a:r>
            <a:r>
              <a:rPr lang="en-US" altLang="zh-CN" sz="2000" dirty="0"/>
              <a:t>3</a:t>
            </a:r>
            <a:endParaRPr lang="zh-CN" altLang="en-US" sz="21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21" y="697585"/>
            <a:ext cx="7110023" cy="419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6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补充</a:t>
            </a:r>
            <a:r>
              <a:rPr lang="en-US" altLang="zh-CN" dirty="0" smtClean="0"/>
              <a:t>4 </a:t>
            </a:r>
            <a:r>
              <a:rPr lang="zh-CN" altLang="en-US" dirty="0"/>
              <a:t>综合</a:t>
            </a:r>
            <a:r>
              <a:rPr lang="zh-CN" altLang="en-US" dirty="0" smtClean="0"/>
              <a:t>应用题（</a:t>
            </a:r>
            <a:r>
              <a:rPr lang="en-US" altLang="zh-CN" dirty="0" smtClean="0"/>
              <a:t>2020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68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676" y="997201"/>
            <a:ext cx="8632424" cy="3734597"/>
          </a:xfrm>
        </p:spPr>
        <p:txBody>
          <a:bodyPr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某校园网有两个局域网，通过路由器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互联后接入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为以太网交换机。局域网采用静态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地址配置，路由器部分接口以及各主机的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地址如下图所示。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回答下列问题：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）为使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能够访问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服务器（使用默认端口号），需要进行什么配置？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主动访问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服务器时，将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请求报文封装到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发送，则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地址和目的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地址分别是什么？经过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转发后，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地址和目的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地址分别是什么？经过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转发后，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地址和目的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地址分别是什么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7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61045" y="228272"/>
            <a:ext cx="8145462" cy="590550"/>
          </a:xfrm>
        </p:spPr>
        <p:txBody>
          <a:bodyPr/>
          <a:lstStyle/>
          <a:p>
            <a:r>
              <a:rPr lang="zh-CN" altLang="en-US" dirty="0" smtClean="0"/>
              <a:t>补充</a:t>
            </a:r>
            <a:r>
              <a:rPr lang="en-US" altLang="zh-CN" dirty="0" smtClean="0"/>
              <a:t>4 </a:t>
            </a:r>
            <a:r>
              <a:rPr lang="zh-CN" altLang="en-US" dirty="0"/>
              <a:t>综合应用题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99" y="957533"/>
            <a:ext cx="7061077" cy="249302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74" y="3450556"/>
            <a:ext cx="6426530" cy="158758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61824" y="2484646"/>
            <a:ext cx="60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Arial"/>
                <a:ea typeface="宋体"/>
                <a:cs typeface="+mn-cs"/>
              </a:rPr>
              <a:t>H2</a:t>
            </a:r>
            <a:endParaRPr kumimoji="0" lang="zh-CN" altLang="en-US" sz="1800" b="0" i="0" u="none" strike="noStrike" kern="1200" cap="none" spc="0" normalizeH="0" baseline="0" noProof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93538" y="2412185"/>
            <a:ext cx="60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Arial"/>
                <a:ea typeface="宋体"/>
                <a:cs typeface="+mn-cs"/>
              </a:rPr>
              <a:t>H3</a:t>
            </a:r>
            <a:endParaRPr kumimoji="0" lang="zh-CN" altLang="en-US" sz="1800" b="0" i="0" u="none" strike="noStrike" kern="1200" cap="none" spc="0" normalizeH="0" baseline="0" noProof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9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章  补充</a:t>
            </a:r>
            <a:r>
              <a:rPr lang="en-US" altLang="zh-CN" dirty="0" smtClean="0"/>
              <a:t>1</a:t>
            </a:r>
            <a:r>
              <a:rPr lang="zh-CN" altLang="en-US" dirty="0" smtClean="0"/>
              <a:t>  综合应用题 </a:t>
            </a:r>
            <a:r>
              <a:rPr lang="en-US" altLang="zh-CN" dirty="0" smtClean="0"/>
              <a:t>(2012)</a:t>
            </a:r>
            <a:endParaRPr lang="zh-CN" altLang="en-US" dirty="0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676" y="899546"/>
            <a:ext cx="8694568" cy="4045315"/>
          </a:xfrm>
        </p:spPr>
        <p:txBody>
          <a:bodyPr/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有一主机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在快速以太网中传送数据，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192.168.0.8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，服务器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211.68.71.80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通信时，在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上捕获的其中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数据报如下表所示：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回答下列问题。</a:t>
            </a:r>
          </a:p>
          <a:p>
            <a:pPr marL="202406" lvl="1"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）题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47-a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表中的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分组中，哪几个是由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发送的？哪几个完成了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连接建立过程？哪几个在通过快速以太网传输时进行了填充？</a:t>
            </a:r>
          </a:p>
          <a:p>
            <a:pPr marL="202406" lvl="1"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）根据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47-a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表中的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分组，分析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已经收到的应用层数据字节数是多少？</a:t>
            </a:r>
          </a:p>
          <a:p>
            <a:pPr marL="202406" lvl="1"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）若题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47-a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表中的某个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分组在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发出时的前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字节如题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47-b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表所示，则该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分组到达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时经历了几个路由器？</a:t>
            </a: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分组头和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段头结构分别如题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47-a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图，题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47-b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深刻理解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分组的报头和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段的报头</a:t>
            </a:r>
          </a:p>
        </p:txBody>
      </p:sp>
    </p:spTree>
    <p:extLst>
      <p:ext uri="{BB962C8B-B14F-4D97-AF65-F5344CB8AC3E}">
        <p14:creationId xmlns:p14="http://schemas.microsoft.com/office/powerpoint/2010/main" val="42119324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496" y="184400"/>
            <a:ext cx="6109097" cy="511969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 补充</a:t>
            </a:r>
            <a:r>
              <a:rPr lang="en-US" altLang="zh-CN" dirty="0"/>
              <a:t>1</a:t>
            </a:r>
            <a:r>
              <a:rPr lang="zh-CN" altLang="en-US" dirty="0"/>
              <a:t>  综合应用题</a:t>
            </a:r>
            <a:endParaRPr lang="zh-CN" altLang="en-US" dirty="0" smtClean="0"/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627461"/>
            <a:ext cx="3412331" cy="2107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87253"/>
            <a:ext cx="411480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545" y="2328864"/>
            <a:ext cx="2888456" cy="2646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494" name="Text Box 7"/>
          <p:cNvSpPr txBox="1">
            <a:spLocks noChangeArrowheads="1"/>
          </p:cNvSpPr>
          <p:nvPr/>
        </p:nvSpPr>
        <p:spPr bwMode="auto">
          <a:xfrm>
            <a:off x="4787504" y="1977629"/>
            <a:ext cx="82586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/>
              <a:t>50 </a:t>
            </a:r>
            <a:r>
              <a:rPr lang="en-US" altLang="zh-CN" sz="900">
                <a:solidFill>
                  <a:srgbClr val="FF0000"/>
                </a:solidFill>
              </a:rPr>
              <a:t>10</a:t>
            </a:r>
            <a:r>
              <a:rPr lang="en-US" altLang="zh-CN" sz="900"/>
              <a:t> 43 80 </a:t>
            </a:r>
          </a:p>
        </p:txBody>
      </p:sp>
      <p:sp>
        <p:nvSpPr>
          <p:cNvPr id="63495" name="Line 8"/>
          <p:cNvSpPr>
            <a:spLocks noChangeShapeType="1"/>
          </p:cNvSpPr>
          <p:nvPr/>
        </p:nvSpPr>
        <p:spPr bwMode="auto">
          <a:xfrm flipH="1" flipV="1">
            <a:off x="3869533" y="1977628"/>
            <a:ext cx="917972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496" name="Text Box 9"/>
          <p:cNvSpPr txBox="1">
            <a:spLocks noChangeArrowheads="1"/>
          </p:cNvSpPr>
          <p:nvPr/>
        </p:nvSpPr>
        <p:spPr bwMode="auto">
          <a:xfrm>
            <a:off x="4787504" y="1977629"/>
            <a:ext cx="82586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/>
              <a:t>50 </a:t>
            </a:r>
            <a:r>
              <a:rPr lang="en-US" altLang="zh-CN" sz="900">
                <a:solidFill>
                  <a:srgbClr val="FF0000"/>
                </a:solidFill>
              </a:rPr>
              <a:t>10</a:t>
            </a:r>
            <a:r>
              <a:rPr lang="en-US" altLang="zh-CN" sz="900"/>
              <a:t> 43 80 </a:t>
            </a:r>
          </a:p>
        </p:txBody>
      </p:sp>
      <p:sp>
        <p:nvSpPr>
          <p:cNvPr id="63497" name="Line 10"/>
          <p:cNvSpPr>
            <a:spLocks noChangeShapeType="1"/>
          </p:cNvSpPr>
          <p:nvPr/>
        </p:nvSpPr>
        <p:spPr bwMode="auto">
          <a:xfrm flipH="1" flipV="1">
            <a:off x="3869533" y="1977628"/>
            <a:ext cx="917972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498" name="Text Box 11"/>
          <p:cNvSpPr txBox="1">
            <a:spLocks noChangeArrowheads="1"/>
          </p:cNvSpPr>
          <p:nvPr/>
        </p:nvSpPr>
        <p:spPr bwMode="auto">
          <a:xfrm>
            <a:off x="4733926" y="1275161"/>
            <a:ext cx="82586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>
                <a:solidFill>
                  <a:srgbClr val="FF0000"/>
                </a:solidFill>
              </a:rPr>
              <a:t>45 </a:t>
            </a:r>
            <a:r>
              <a:rPr lang="en-US" altLang="zh-CN" sz="900"/>
              <a:t>00 00 30 </a:t>
            </a:r>
          </a:p>
        </p:txBody>
      </p:sp>
      <p:sp>
        <p:nvSpPr>
          <p:cNvPr id="63499" name="Line 12"/>
          <p:cNvSpPr>
            <a:spLocks noChangeShapeType="1"/>
          </p:cNvSpPr>
          <p:nvPr/>
        </p:nvSpPr>
        <p:spPr bwMode="auto">
          <a:xfrm flipH="1">
            <a:off x="1925241" y="1437086"/>
            <a:ext cx="2808684" cy="547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2435275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解析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79111"/>
            <a:ext cx="8993080" cy="3024717"/>
          </a:xfrm>
        </p:spPr>
        <p:txBody>
          <a:bodyPr/>
          <a:lstStyle/>
          <a:p>
            <a:pPr>
              <a:lnSpc>
                <a:spcPct val="75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en-US" altLang="zh-CN" sz="2000" dirty="0"/>
              <a:t>-1</a:t>
            </a:r>
            <a:r>
              <a:rPr lang="zh-CN" altLang="en-US" sz="2000" dirty="0">
                <a:solidFill>
                  <a:srgbClr val="FF3300"/>
                </a:solidFill>
              </a:rPr>
              <a:t>查看源地址</a:t>
            </a:r>
            <a:r>
              <a:rPr lang="zh-CN" altLang="en-US" sz="2000" dirty="0"/>
              <a:t>。由于题</a:t>
            </a:r>
            <a:r>
              <a:rPr lang="en-US" altLang="zh-CN" sz="2000" dirty="0"/>
              <a:t>47-a</a:t>
            </a:r>
            <a:r>
              <a:rPr lang="zh-CN" altLang="en-US" sz="2000" dirty="0"/>
              <a:t>表中</a:t>
            </a: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en-US" altLang="zh-CN" sz="2000" dirty="0"/>
              <a:t>4</a:t>
            </a:r>
            <a:r>
              <a:rPr lang="zh-CN" altLang="en-US" sz="2000" dirty="0"/>
              <a:t>号分组的源</a:t>
            </a:r>
            <a:r>
              <a:rPr lang="en-US" altLang="zh-CN" sz="2000" dirty="0"/>
              <a:t>IP</a:t>
            </a:r>
            <a:r>
              <a:rPr lang="zh-CN" altLang="en-US" sz="2000" dirty="0"/>
              <a:t>地址（第</a:t>
            </a:r>
            <a:r>
              <a:rPr lang="en-US" altLang="zh-CN" sz="2000" dirty="0"/>
              <a:t>13~16</a:t>
            </a:r>
            <a:r>
              <a:rPr lang="zh-CN" altLang="en-US" sz="2000" dirty="0"/>
              <a:t>字节）均为</a:t>
            </a:r>
            <a:r>
              <a:rPr lang="en-US" altLang="zh-CN" sz="2000" dirty="0"/>
              <a:t>192.168.0.8</a:t>
            </a:r>
            <a:r>
              <a:rPr lang="zh-CN" altLang="en-US" sz="2000" dirty="0"/>
              <a:t>（</a:t>
            </a:r>
            <a:r>
              <a:rPr lang="en-US" altLang="zh-CN" sz="2000" dirty="0"/>
              <a:t>c0a8 0008H</a:t>
            </a:r>
            <a:r>
              <a:rPr lang="zh-CN" altLang="en-US" sz="2000" dirty="0"/>
              <a:t>），因此可以判定</a:t>
            </a: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en-US" altLang="zh-CN" sz="2000" dirty="0"/>
              <a:t>4</a:t>
            </a:r>
            <a:r>
              <a:rPr lang="zh-CN" altLang="en-US" sz="2000" dirty="0"/>
              <a:t>号分组是由</a:t>
            </a:r>
            <a:r>
              <a:rPr lang="en-US" altLang="zh-CN" sz="2000" dirty="0"/>
              <a:t>H</a:t>
            </a:r>
            <a:r>
              <a:rPr lang="zh-CN" altLang="en-US" sz="2000" dirty="0"/>
              <a:t>发送的。（</a:t>
            </a:r>
            <a:r>
              <a:rPr lang="en-US" altLang="zh-CN" sz="2000" dirty="0"/>
              <a:t>3</a:t>
            </a:r>
            <a:r>
              <a:rPr lang="zh-CN" altLang="en-US" sz="2000" dirty="0"/>
              <a:t>分） </a:t>
            </a:r>
          </a:p>
          <a:p>
            <a:pPr>
              <a:lnSpc>
                <a:spcPct val="75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en-US" altLang="zh-CN" sz="2000" dirty="0"/>
              <a:t>-2</a:t>
            </a:r>
            <a:r>
              <a:rPr lang="zh-CN" altLang="en-US" sz="2000" dirty="0">
                <a:solidFill>
                  <a:srgbClr val="FF3300"/>
                </a:solidFill>
              </a:rPr>
              <a:t>查看标志位</a:t>
            </a:r>
            <a:r>
              <a:rPr lang="zh-CN" altLang="en-US" sz="2000" dirty="0"/>
              <a:t>。题</a:t>
            </a:r>
            <a:r>
              <a:rPr lang="en-US" altLang="zh-CN" sz="2000" dirty="0"/>
              <a:t>47-a</a:t>
            </a:r>
            <a:r>
              <a:rPr lang="zh-CN" altLang="en-US" sz="2000" dirty="0"/>
              <a:t>表中</a:t>
            </a:r>
            <a:r>
              <a:rPr lang="en-US" altLang="zh-CN" sz="2000" dirty="0"/>
              <a:t>1</a:t>
            </a:r>
            <a:r>
              <a:rPr lang="zh-CN" altLang="en-US" sz="2000" dirty="0"/>
              <a:t>号分组封装的</a:t>
            </a:r>
            <a:r>
              <a:rPr lang="en-US" altLang="zh-CN" sz="2000" dirty="0"/>
              <a:t>TCP</a:t>
            </a:r>
            <a:r>
              <a:rPr lang="zh-CN" altLang="en-US" sz="2000" dirty="0"/>
              <a:t>段的</a:t>
            </a:r>
            <a:r>
              <a:rPr lang="en-US" altLang="zh-CN" sz="2000" dirty="0"/>
              <a:t>FLAG</a:t>
            </a:r>
            <a:r>
              <a:rPr lang="zh-CN" altLang="en-US" sz="2000" dirty="0"/>
              <a:t>为</a:t>
            </a:r>
            <a:r>
              <a:rPr lang="en-US" altLang="zh-CN" sz="2000" dirty="0"/>
              <a:t>02H</a:t>
            </a:r>
            <a:r>
              <a:rPr lang="zh-CN" altLang="en-US" sz="2000" dirty="0"/>
              <a:t>（即</a:t>
            </a:r>
            <a:r>
              <a:rPr lang="en-US" altLang="zh-CN" sz="2000" dirty="0"/>
              <a:t>SYN=1</a:t>
            </a:r>
            <a:r>
              <a:rPr lang="zh-CN" altLang="en-US" sz="2000" dirty="0"/>
              <a:t>，</a:t>
            </a:r>
            <a:r>
              <a:rPr lang="en-US" altLang="zh-CN" sz="2000" dirty="0"/>
              <a:t>ACK=0</a:t>
            </a:r>
            <a:r>
              <a:rPr lang="zh-CN" altLang="en-US" sz="2000" dirty="0"/>
              <a:t>），</a:t>
            </a:r>
            <a:r>
              <a:rPr lang="en-US" altLang="zh-CN" sz="2000" dirty="0" err="1"/>
              <a:t>seq</a:t>
            </a:r>
            <a:r>
              <a:rPr lang="en-US" altLang="zh-CN" sz="2000" dirty="0"/>
              <a:t>=846b 41c5H</a:t>
            </a:r>
            <a:r>
              <a:rPr lang="zh-CN" altLang="en-US" sz="2000" dirty="0"/>
              <a:t>，</a:t>
            </a:r>
            <a:r>
              <a:rPr lang="en-US" altLang="zh-CN" sz="2000" dirty="0"/>
              <a:t>2</a:t>
            </a:r>
            <a:r>
              <a:rPr lang="zh-CN" altLang="en-US" sz="2000" dirty="0"/>
              <a:t>号分组封装的</a:t>
            </a:r>
            <a:r>
              <a:rPr lang="en-US" altLang="zh-CN" sz="2000" dirty="0"/>
              <a:t>TCP</a:t>
            </a:r>
            <a:r>
              <a:rPr lang="zh-CN" altLang="en-US" sz="2000" dirty="0"/>
              <a:t>段的</a:t>
            </a:r>
            <a:r>
              <a:rPr lang="en-US" altLang="zh-CN" sz="2000" dirty="0"/>
              <a:t>FLAG</a:t>
            </a:r>
            <a:r>
              <a:rPr lang="zh-CN" altLang="en-US" sz="2000" dirty="0"/>
              <a:t>为</a:t>
            </a:r>
            <a:r>
              <a:rPr lang="en-US" altLang="zh-CN" sz="2000" dirty="0"/>
              <a:t>12H</a:t>
            </a:r>
            <a:r>
              <a:rPr lang="zh-CN" altLang="en-US" sz="2000" dirty="0"/>
              <a:t>（即</a:t>
            </a:r>
            <a:r>
              <a:rPr lang="en-US" altLang="zh-CN" sz="2000" dirty="0"/>
              <a:t>SYN=1</a:t>
            </a:r>
            <a:r>
              <a:rPr lang="zh-CN" altLang="en-US" sz="2000" dirty="0"/>
              <a:t>，</a:t>
            </a:r>
            <a:r>
              <a:rPr lang="en-US" altLang="zh-CN" sz="2000" dirty="0"/>
              <a:t>ACK=1</a:t>
            </a:r>
            <a:r>
              <a:rPr lang="zh-CN" altLang="en-US" sz="2000" dirty="0"/>
              <a:t>），</a:t>
            </a:r>
            <a:r>
              <a:rPr lang="en-US" altLang="zh-CN" sz="2000" dirty="0" err="1"/>
              <a:t>seq</a:t>
            </a:r>
            <a:r>
              <a:rPr lang="en-US" altLang="zh-CN" sz="2000" dirty="0"/>
              <a:t>=e059 9fefH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ack</a:t>
            </a:r>
            <a:r>
              <a:rPr lang="en-US" altLang="zh-CN" sz="2000" dirty="0"/>
              <a:t>=846b 41c6H</a:t>
            </a:r>
            <a:r>
              <a:rPr lang="zh-CN" altLang="en-US" sz="2000" dirty="0"/>
              <a:t>，</a:t>
            </a:r>
            <a:r>
              <a:rPr lang="en-US" altLang="zh-CN" sz="2000" dirty="0"/>
              <a:t>3</a:t>
            </a:r>
            <a:r>
              <a:rPr lang="zh-CN" altLang="en-US" sz="2000" dirty="0"/>
              <a:t>号分组封装的</a:t>
            </a:r>
            <a:r>
              <a:rPr lang="en-US" altLang="zh-CN" sz="2000" dirty="0"/>
              <a:t>TCP</a:t>
            </a:r>
            <a:r>
              <a:rPr lang="zh-CN" altLang="en-US" sz="2000" dirty="0"/>
              <a:t>段的</a:t>
            </a:r>
            <a:r>
              <a:rPr lang="en-US" altLang="zh-CN" sz="2000" dirty="0"/>
              <a:t>FLAG</a:t>
            </a:r>
            <a:r>
              <a:rPr lang="zh-CN" altLang="en-US" sz="2000" dirty="0"/>
              <a:t>为</a:t>
            </a:r>
            <a:r>
              <a:rPr lang="en-US" altLang="zh-CN" sz="2000" dirty="0"/>
              <a:t>10H</a:t>
            </a:r>
            <a:r>
              <a:rPr lang="zh-CN" altLang="en-US" sz="2000" dirty="0"/>
              <a:t>（即</a:t>
            </a:r>
            <a:r>
              <a:rPr lang="en-US" altLang="zh-CN" sz="2000" dirty="0"/>
              <a:t>ACK=1</a:t>
            </a:r>
            <a:r>
              <a:rPr lang="zh-CN" altLang="en-US" sz="2000" dirty="0"/>
              <a:t>），</a:t>
            </a:r>
            <a:r>
              <a:rPr lang="en-US" altLang="zh-CN" sz="2000" dirty="0" err="1"/>
              <a:t>seq</a:t>
            </a:r>
            <a:r>
              <a:rPr lang="en-US" altLang="zh-CN" sz="2000" dirty="0"/>
              <a:t>=846b 41c6H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ack</a:t>
            </a:r>
            <a:r>
              <a:rPr lang="en-US" altLang="zh-CN" sz="2000" dirty="0"/>
              <a:t>= e059 9ff0H</a:t>
            </a:r>
            <a:r>
              <a:rPr lang="zh-CN" altLang="en-US" sz="2000" dirty="0"/>
              <a:t>，所以</a:t>
            </a: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en-US" altLang="zh-CN" sz="2000" dirty="0"/>
              <a:t>3</a:t>
            </a:r>
            <a:r>
              <a:rPr lang="zh-CN" altLang="en-US" sz="2000" dirty="0"/>
              <a:t>号分组完成了</a:t>
            </a:r>
            <a:r>
              <a:rPr lang="en-US" altLang="zh-CN" sz="2000" dirty="0"/>
              <a:t>TCP</a:t>
            </a:r>
            <a:r>
              <a:rPr lang="zh-CN" altLang="en-US" sz="2000" dirty="0"/>
              <a:t>连接建立过程。（</a:t>
            </a:r>
            <a:r>
              <a:rPr lang="en-US" altLang="zh-CN" sz="2000" dirty="0"/>
              <a:t>1</a:t>
            </a:r>
            <a:r>
              <a:rPr lang="zh-CN" altLang="en-US" sz="2000" dirty="0"/>
              <a:t>分）</a:t>
            </a:r>
          </a:p>
          <a:p>
            <a:pPr>
              <a:lnSpc>
                <a:spcPct val="75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en-US" altLang="zh-CN" sz="2000" dirty="0"/>
              <a:t>-3</a:t>
            </a:r>
            <a:r>
              <a:rPr lang="zh-CN" altLang="en-US" sz="2000" dirty="0">
                <a:solidFill>
                  <a:srgbClr val="FF3300"/>
                </a:solidFill>
              </a:rPr>
              <a:t>查看</a:t>
            </a:r>
            <a:r>
              <a:rPr lang="en-US" altLang="zh-CN" sz="2000" dirty="0">
                <a:solidFill>
                  <a:srgbClr val="FF3300"/>
                </a:solidFill>
              </a:rPr>
              <a:t>IP</a:t>
            </a:r>
            <a:r>
              <a:rPr lang="zh-CN" altLang="en-US" sz="2000" dirty="0">
                <a:solidFill>
                  <a:srgbClr val="FF3300"/>
                </a:solidFill>
              </a:rPr>
              <a:t>分组的长度</a:t>
            </a:r>
            <a:r>
              <a:rPr lang="zh-CN" altLang="en-US" sz="2000" dirty="0"/>
              <a:t>。 由于快速以太网数据帧有效载荷的最小长度为</a:t>
            </a:r>
            <a:r>
              <a:rPr lang="en-US" altLang="zh-CN" sz="2000" dirty="0"/>
              <a:t>46</a:t>
            </a:r>
            <a:r>
              <a:rPr lang="zh-CN" altLang="en-US" sz="2000" dirty="0"/>
              <a:t>字节，表中</a:t>
            </a:r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en-US" altLang="zh-CN" sz="2000" dirty="0"/>
              <a:t>5</a:t>
            </a:r>
            <a:r>
              <a:rPr lang="zh-CN" altLang="en-US" sz="2000" dirty="0"/>
              <a:t>号分组的总长度为</a:t>
            </a:r>
            <a:r>
              <a:rPr lang="en-US" altLang="zh-CN" sz="2000" dirty="0"/>
              <a:t>40</a:t>
            </a:r>
            <a:r>
              <a:rPr lang="zh-CN" altLang="en-US" sz="2000" dirty="0"/>
              <a:t>（</a:t>
            </a:r>
            <a:r>
              <a:rPr lang="en-US" altLang="zh-CN" sz="2000" dirty="0"/>
              <a:t>28H</a:t>
            </a:r>
            <a:r>
              <a:rPr lang="zh-CN" altLang="en-US" sz="2000" dirty="0"/>
              <a:t>）字节，小于</a:t>
            </a:r>
            <a:r>
              <a:rPr lang="en-US" altLang="zh-CN" sz="2000" dirty="0"/>
              <a:t>46</a:t>
            </a:r>
            <a:r>
              <a:rPr lang="zh-CN" altLang="en-US" sz="2000" dirty="0"/>
              <a:t>字节，其余分组总长度均大于</a:t>
            </a:r>
            <a:r>
              <a:rPr lang="en-US" altLang="zh-CN" sz="2000" dirty="0"/>
              <a:t>46</a:t>
            </a:r>
            <a:r>
              <a:rPr lang="zh-CN" altLang="en-US" sz="2000" dirty="0"/>
              <a:t>字节。所以</a:t>
            </a:r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en-US" altLang="zh-CN" sz="2000" dirty="0"/>
              <a:t>5</a:t>
            </a:r>
            <a:r>
              <a:rPr lang="zh-CN" altLang="en-US" sz="2000" dirty="0"/>
              <a:t>号分组通过快速以太网传输时进行了填充。（</a:t>
            </a:r>
            <a:r>
              <a:rPr lang="en-US" altLang="zh-CN" sz="2000" dirty="0"/>
              <a:t>1</a:t>
            </a:r>
            <a:r>
              <a:rPr lang="zh-CN" altLang="en-US" sz="2000" dirty="0"/>
              <a:t>分）</a:t>
            </a:r>
          </a:p>
        </p:txBody>
      </p:sp>
    </p:spTree>
    <p:extLst>
      <p:ext uri="{BB962C8B-B14F-4D97-AF65-F5344CB8AC3E}">
        <p14:creationId xmlns:p14="http://schemas.microsoft.com/office/powerpoint/2010/main" val="118195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解析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905" y="978695"/>
            <a:ext cx="7243209" cy="2678906"/>
          </a:xfrm>
        </p:spPr>
        <p:txBody>
          <a:bodyPr/>
          <a:lstStyle/>
          <a:p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</a:t>
            </a:r>
            <a:r>
              <a:rPr lang="en-US" altLang="en-US" sz="2000" dirty="0" smtClean="0"/>
              <a:t>由3号分组封装的TCP段可知，发送应用层数据初始序号为seq=846b 41c6H，由5号分组封装的TCP段可知，ack为seq=846b 41d6H，所以5号分组已经收到的应用层数据的字节数为846b 41d6H - 846b 41c6H=10H=16。（2分） </a:t>
            </a:r>
            <a:endParaRPr lang="zh-CN" altLang="en-US" sz="2000" dirty="0" smtClean="0"/>
          </a:p>
          <a:p>
            <a:r>
              <a:rPr lang="en-US" altLang="zh-CN" sz="2000" dirty="0" smtClean="0"/>
              <a:t>【</a:t>
            </a:r>
            <a:r>
              <a:rPr lang="zh-CN" altLang="en-US" sz="2000" dirty="0" smtClean="0"/>
              <a:t>评分说明</a:t>
            </a:r>
            <a:r>
              <a:rPr lang="en-US" altLang="zh-CN" sz="2000" dirty="0" smtClean="0"/>
              <a:t>】</a:t>
            </a:r>
            <a:r>
              <a:rPr lang="zh-CN" altLang="en-US" sz="2000" dirty="0" smtClean="0"/>
              <a:t>其他正确解答，亦给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分；若解答结果不正确，但分析过程正确给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分；其他情况酌情给分。 </a:t>
            </a:r>
          </a:p>
        </p:txBody>
      </p:sp>
    </p:spTree>
    <p:extLst>
      <p:ext uri="{BB962C8B-B14F-4D97-AF65-F5344CB8AC3E}">
        <p14:creationId xmlns:p14="http://schemas.microsoft.com/office/powerpoint/2010/main" val="102957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解析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719" y="1006080"/>
            <a:ext cx="7609320" cy="2678906"/>
          </a:xfrm>
        </p:spPr>
        <p:txBody>
          <a:bodyPr/>
          <a:lstStyle/>
          <a:p>
            <a:r>
              <a:rPr lang="zh-CN" altLang="zh-CN" sz="2000" dirty="0" smtClean="0"/>
              <a:t>（3）由于S发出的IP分组的</a:t>
            </a:r>
            <a:r>
              <a:rPr lang="zh-CN" altLang="zh-CN" sz="2000" dirty="0" smtClean="0">
                <a:solidFill>
                  <a:srgbClr val="FF3300"/>
                </a:solidFill>
              </a:rPr>
              <a:t>标识</a:t>
            </a:r>
            <a:r>
              <a:rPr lang="zh-CN" altLang="zh-CN" sz="2000" dirty="0" smtClean="0"/>
              <a:t>=6811H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或看序号</a:t>
            </a:r>
            <a:r>
              <a:rPr lang="en-US" altLang="zh-CN" sz="2000" dirty="0" smtClean="0">
                <a:sym typeface="Wingdings" panose="05000000000000000000" pitchFamily="2" charset="2"/>
              </a:rPr>
              <a:t>e0 59 9f f0)</a:t>
            </a:r>
            <a:r>
              <a:rPr lang="zh-CN" altLang="zh-CN" sz="2000" dirty="0" smtClean="0"/>
              <a:t>，所以该分组所对应的是题47-a表中的5号分组。S发出的IP分组的TTL=40H=64，5号分组的TTL=31H=49，64-49=15，所以，可以推断该IP分组到达H时经过了15个路由器。（2分） </a:t>
            </a:r>
            <a:endParaRPr lang="zh-CN" altLang="en-US" sz="2000" dirty="0" smtClean="0"/>
          </a:p>
          <a:p>
            <a:r>
              <a:rPr lang="zh-CN" altLang="zh-CN" sz="2000" dirty="0" smtClean="0"/>
              <a:t>【评分说明】若解答结果不正确，但分析过程正确给1分；其他情况酌情给分。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7619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6</a:t>
            </a:r>
            <a:r>
              <a:rPr lang="zh-CN" altLang="en-US" dirty="0" smtClean="0"/>
              <a:t>章 补充</a:t>
            </a:r>
            <a:r>
              <a:rPr lang="en-US" altLang="zh-CN" dirty="0" smtClean="0"/>
              <a:t>1</a:t>
            </a:r>
            <a:r>
              <a:rPr lang="zh-CN" altLang="en-US" dirty="0" smtClean="0"/>
              <a:t>  综合应用题 </a:t>
            </a:r>
            <a:r>
              <a:rPr lang="en-US" altLang="zh-CN" dirty="0" smtClean="0"/>
              <a:t>(2011 )</a:t>
            </a:r>
            <a:endParaRPr lang="zh-CN" altLang="en-US" dirty="0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71525"/>
            <a:ext cx="9072978" cy="4270992"/>
          </a:xfrm>
        </p:spPr>
        <p:txBody>
          <a:bodyPr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某主机的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00-15-C5-C1-5E-28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10.2.128.100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（私有地址）。题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47-a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图是网络拓扑，题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47-b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图是该主机进行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个以太网数据帧前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个字节的十六进制及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码内容。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请参考图中的数据回答以下问题：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地址是什么？该主机的默认网关的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地址是什么？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）该主机在构造题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47-b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图的数据帧时，使用什么协议确定目的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地址？封装该协议请求报文的以太网帧的目的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地址是什么？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）假设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HTTP/1.1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协议以持续的非流水线方式工作，一次请求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响应时间为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rfc.Html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页面引用了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JPEG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小图像，则从发出题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47-b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请求开始到浏览器收到全部内容为止，需要经过多少个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）该帧所封装的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分组经过路由器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转发时，需修改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分组头中的哪些字段？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注：以太网数据帧结构和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分组头结构分别如题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47-c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图、题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47-d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</a:p>
        </p:txBody>
      </p:sp>
    </p:spTree>
    <p:extLst>
      <p:ext uri="{BB962C8B-B14F-4D97-AF65-F5344CB8AC3E}">
        <p14:creationId xmlns:p14="http://schemas.microsoft.com/office/powerpoint/2010/main" val="318158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298" y="141685"/>
            <a:ext cx="4482703" cy="2494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201968" y="141685"/>
            <a:ext cx="5866210" cy="702469"/>
          </a:xfrm>
        </p:spPr>
        <p:txBody>
          <a:bodyPr/>
          <a:lstStyle/>
          <a:p>
            <a:r>
              <a:rPr lang="zh-CN" altLang="en-US" sz="2100" dirty="0" smtClean="0"/>
              <a:t>第</a:t>
            </a:r>
            <a:r>
              <a:rPr lang="en-US" altLang="zh-CN" sz="2100" dirty="0" smtClean="0"/>
              <a:t>6</a:t>
            </a:r>
            <a:r>
              <a:rPr lang="zh-CN" altLang="en-US" sz="2100" dirty="0" smtClean="0"/>
              <a:t>章</a:t>
            </a:r>
            <a:r>
              <a:rPr lang="en-US" altLang="zh-CN" sz="2100" dirty="0"/>
              <a:t/>
            </a:r>
            <a:br>
              <a:rPr lang="en-US" altLang="zh-CN" sz="2100" dirty="0"/>
            </a:br>
            <a:r>
              <a:rPr lang="zh-CN" altLang="en-US" sz="2100" dirty="0" smtClean="0"/>
              <a:t>补充</a:t>
            </a:r>
            <a:r>
              <a:rPr lang="en-US" altLang="zh-CN" sz="2100" dirty="0" smtClean="0"/>
              <a:t>1</a:t>
            </a:r>
            <a:r>
              <a:rPr lang="zh-CN" altLang="en-US" sz="2100" dirty="0" smtClean="0"/>
              <a:t>、</a:t>
            </a:r>
            <a:r>
              <a:rPr lang="zh-CN" altLang="en-US" sz="2100" dirty="0"/>
              <a:t>综合</a:t>
            </a:r>
            <a:r>
              <a:rPr lang="zh-CN" altLang="en-US" sz="2100" dirty="0" smtClean="0"/>
              <a:t>应用题</a:t>
            </a:r>
            <a:endParaRPr lang="zh-CN" altLang="en-US" sz="2100" dirty="0"/>
          </a:p>
        </p:txBody>
      </p:sp>
      <p:pic>
        <p:nvPicPr>
          <p:cNvPr id="819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681" y="2594373"/>
            <a:ext cx="3586163" cy="2549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749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解析</a:t>
            </a:r>
          </a:p>
        </p:txBody>
      </p:sp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844154"/>
            <a:ext cx="6157913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2463405"/>
            <a:ext cx="6172200" cy="226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439466" y="4786314"/>
            <a:ext cx="6109097" cy="21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lIns="61593" tIns="30796" rIns="61593" bIns="30796" anchor="b"/>
          <a:lstStyle>
            <a:lvl1pPr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4675" indent="-117475" defTabSz="814388">
              <a:lnSpc>
                <a:spcPct val="95000"/>
              </a:lnSpc>
              <a:spcBef>
                <a:spcPct val="35000"/>
              </a:spcBef>
              <a:buClr>
                <a:srgbClr val="0000FF"/>
              </a:buClr>
              <a:buFont typeface="仿宋_GB2312" pitchFamily="49" charset="-122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54125" indent="117475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4963" indent="223838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62163" indent="223838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9363" indent="223838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6563" indent="223838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33763" indent="223838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500" b="1">
                <a:solidFill>
                  <a:srgbClr val="708CA1"/>
                </a:solidFill>
              </a:rPr>
              <a:t>三次握手之后</a:t>
            </a:r>
          </a:p>
        </p:txBody>
      </p:sp>
      <p:pic>
        <p:nvPicPr>
          <p:cNvPr id="829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844154"/>
            <a:ext cx="6157913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95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2463405"/>
            <a:ext cx="6172200" cy="226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95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844154"/>
            <a:ext cx="6157913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95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2463405"/>
            <a:ext cx="6172200" cy="226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339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解析</a:t>
            </a:r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80" y="1006078"/>
            <a:ext cx="7113175" cy="2553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724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8" y="180975"/>
            <a:ext cx="8145462" cy="448753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6</a:t>
            </a:r>
            <a:r>
              <a:rPr lang="zh-CN" altLang="en-US" dirty="0" smtClean="0"/>
              <a:t>章 </a:t>
            </a:r>
            <a:r>
              <a:rPr lang="zh-CN" altLang="en-US" dirty="0" smtClean="0"/>
              <a:t>补充</a:t>
            </a:r>
            <a:r>
              <a:rPr lang="en-US" altLang="zh-CN" dirty="0" smtClean="0"/>
              <a:t>2</a:t>
            </a:r>
            <a:r>
              <a:rPr lang="zh-CN" altLang="en-US" dirty="0" smtClean="0"/>
              <a:t>  </a:t>
            </a:r>
            <a:r>
              <a:rPr lang="zh-CN" altLang="en-US" dirty="0" smtClean="0"/>
              <a:t>综合应用题 </a:t>
            </a:r>
            <a:r>
              <a:rPr lang="en-US" altLang="zh-CN" dirty="0" smtClean="0"/>
              <a:t>(</a:t>
            </a:r>
            <a:r>
              <a:rPr lang="en-US" altLang="zh-CN" dirty="0" smtClean="0"/>
              <a:t>2022 </a:t>
            </a:r>
            <a:r>
              <a:rPr lang="en-US" altLang="zh-CN" dirty="0" smtClean="0"/>
              <a:t>)</a:t>
            </a:r>
            <a:endParaRPr lang="zh-CN" altLang="en-US" dirty="0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022" y="629728"/>
            <a:ext cx="9072978" cy="4270992"/>
          </a:xfrm>
        </p:spPr>
        <p:txBody>
          <a:bodyPr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某网络拓扑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如图所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为路由器，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为以太网交换机，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802.11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接入点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，路由器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地址配置如图中所示；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Hl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属于同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一个广播域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不属于同一个冲突域；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H3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属于同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一个冲突域；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H4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已经接入网络，并通过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地址。现有路由器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100BaseT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以太网交换机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100BaseT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集线器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(Hub)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类设备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各若干台。。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请回答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以下问题：</a:t>
            </a:r>
          </a:p>
          <a:p>
            <a:pPr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）设备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和设备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应该分别选择哪类设备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）若信号传播速度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 smtClean="0"/>
              <a:t>2x10</a:t>
            </a:r>
            <a:r>
              <a:rPr lang="en-US" altLang="zh-CN" baseline="30000" dirty="0" smtClean="0"/>
              <a:t>8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m/s,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以太网最小帧长为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B,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信号通过设备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Hub1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100BaseT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集线器） 时会产生额外的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1.51μs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的时间延迟，请计算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之间可以相距的最远距离是多少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动态获取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地址过程中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首先发送了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M, 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是哪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DHCP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报文？路由器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接口能否收到封装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的以太网帧？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服务器转发的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的以太网帧的目的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地址是什么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101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8" y="180975"/>
            <a:ext cx="8145462" cy="448753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6</a:t>
            </a:r>
            <a:r>
              <a:rPr lang="zh-CN" altLang="en-US" dirty="0" smtClean="0"/>
              <a:t>章 </a:t>
            </a:r>
            <a:r>
              <a:rPr lang="zh-CN" altLang="en-US" dirty="0" smtClean="0"/>
              <a:t>补充</a:t>
            </a:r>
            <a:r>
              <a:rPr lang="en-US" altLang="zh-CN" dirty="0" smtClean="0"/>
              <a:t>2</a:t>
            </a:r>
            <a:r>
              <a:rPr lang="zh-CN" altLang="en-US" dirty="0" smtClean="0"/>
              <a:t>  </a:t>
            </a:r>
            <a:r>
              <a:rPr lang="zh-CN" altLang="en-US" dirty="0" smtClean="0"/>
              <a:t>综合应用题 </a:t>
            </a:r>
            <a:r>
              <a:rPr lang="en-US" altLang="zh-CN" dirty="0" smtClean="0"/>
              <a:t>(</a:t>
            </a:r>
            <a:r>
              <a:rPr lang="en-US" altLang="zh-CN" dirty="0" smtClean="0"/>
              <a:t>2022 </a:t>
            </a:r>
            <a:r>
              <a:rPr lang="en-US" altLang="zh-CN" dirty="0" smtClean="0"/>
              <a:t>)</a:t>
            </a:r>
            <a:endParaRPr lang="zh-CN" altLang="en-US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73" y="890508"/>
            <a:ext cx="6691381" cy="33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0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8" y="180975"/>
            <a:ext cx="8145462" cy="448753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6</a:t>
            </a:r>
            <a:r>
              <a:rPr lang="zh-CN" altLang="en-US" dirty="0" smtClean="0"/>
              <a:t>章 </a:t>
            </a:r>
            <a:r>
              <a:rPr lang="zh-CN" altLang="en-US" dirty="0" smtClean="0"/>
              <a:t>补充</a:t>
            </a:r>
            <a:r>
              <a:rPr lang="en-US" altLang="zh-CN" dirty="0" smtClean="0"/>
              <a:t>2</a:t>
            </a:r>
            <a:r>
              <a:rPr lang="zh-CN" altLang="en-US" dirty="0" smtClean="0"/>
              <a:t>  </a:t>
            </a:r>
            <a:r>
              <a:rPr lang="zh-CN" altLang="en-US" dirty="0" smtClean="0"/>
              <a:t>综合应用题 </a:t>
            </a:r>
            <a:r>
              <a:rPr lang="en-US" altLang="zh-CN" dirty="0" smtClean="0"/>
              <a:t>(</a:t>
            </a:r>
            <a:r>
              <a:rPr lang="en-US" altLang="zh-CN" dirty="0" smtClean="0"/>
              <a:t>2022 </a:t>
            </a:r>
            <a:r>
              <a:rPr lang="en-US" altLang="zh-CN" dirty="0" smtClean="0"/>
              <a:t>)</a:t>
            </a:r>
            <a:endParaRPr lang="zh-CN" altLang="en-US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03" y="1105723"/>
            <a:ext cx="8155017" cy="344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5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5_2006_Title/Bullet_Cisco White Temp">
  <a:themeElements>
    <a:clrScheme name="2_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2_2006_Title/Bullet_Cisco White Temp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6_2006_Title/Bullet_Cisco White Temp">
  <a:themeElements>
    <a:clrScheme name="2_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2_2006_Title/Bullet_Cisco White Temp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2006_Title/Bullet_Cisco White Temp">
  <a:themeElements>
    <a:clrScheme name="3_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3_2006_Title/Bullet_Cisco White Tem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7_2006_Title/Bullet_Cisco White Temp">
  <a:themeElements>
    <a:clrScheme name="3_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3_2006_Title/Bullet_Cisco White Tem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NetAcad-4F_PPT-WHT_060408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NetAcad-4F_PPT-WHT_060408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NetAcad-4F_PPT-WHT_060408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NetAcad-4F_PPT-WHT_060408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NetAcad-4F_PPT-WHT_060408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11.xml><?xml version="1.0" encoding="utf-8"?>
<a:theme xmlns:a="http://schemas.openxmlformats.org/drawingml/2006/main" name="Oct_2006_Cisco White Template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5326</TotalTime>
  <Words>1837</Words>
  <Application>Microsoft Office PowerPoint</Application>
  <PresentationFormat>全屏显示(16:9)</PresentationFormat>
  <Paragraphs>75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20</vt:i4>
      </vt:variant>
    </vt:vector>
  </HeadingPairs>
  <TitlesOfParts>
    <vt:vector size="46" baseType="lpstr">
      <vt:lpstr>等线</vt:lpstr>
      <vt:lpstr>Arial</vt:lpstr>
      <vt:lpstr>Verdana</vt:lpstr>
      <vt:lpstr>仿宋_GB2312</vt:lpstr>
      <vt:lpstr>宋体</vt:lpstr>
      <vt:lpstr>MS PGothic</vt:lpstr>
      <vt:lpstr>CiscoSans Thin</vt:lpstr>
      <vt:lpstr>黑体</vt:lpstr>
      <vt:lpstr>CiscoSans</vt:lpstr>
      <vt:lpstr>Wingdings</vt:lpstr>
      <vt:lpstr>Tahoma</vt:lpstr>
      <vt:lpstr>Calibri</vt:lpstr>
      <vt:lpstr>微软雅黑</vt:lpstr>
      <vt:lpstr>Consolas</vt:lpstr>
      <vt:lpstr>MS PGothic</vt:lpstr>
      <vt:lpstr>25_2006_Title/Bullet_Cisco White Temp</vt:lpstr>
      <vt:lpstr>26_2006_Title/Bullet_Cisco White Temp</vt:lpstr>
      <vt:lpstr>6_2006_Title/Bullet_Cisco White Temp</vt:lpstr>
      <vt:lpstr>7_2006_Title/Bullet_Cisco White Temp</vt:lpstr>
      <vt:lpstr>4_NetAcad-4F_PPT-WHT_060408</vt:lpstr>
      <vt:lpstr>5_NetAcad-4F_PPT-WHT_060408</vt:lpstr>
      <vt:lpstr>6_NetAcad-4F_PPT-WHT_060408</vt:lpstr>
      <vt:lpstr>7_NetAcad-4F_PPT-WHT_060408</vt:lpstr>
      <vt:lpstr>8_NetAcad-4F_PPT-WHT_060408</vt:lpstr>
      <vt:lpstr>Default Theme</vt:lpstr>
      <vt:lpstr>Oct_2006_Cisco White Template</vt:lpstr>
      <vt:lpstr>第4章 补充1 综合应用题（2009） </vt:lpstr>
      <vt:lpstr>综合应用题 </vt:lpstr>
      <vt:lpstr>补充2 综合应用题（2013）</vt:lpstr>
      <vt:lpstr>PowerPoint 演示文稿</vt:lpstr>
      <vt:lpstr>补充3 综合应用题（2019）</vt:lpstr>
      <vt:lpstr>补充3</vt:lpstr>
      <vt:lpstr>补充4 综合应用题（2020）</vt:lpstr>
      <vt:lpstr>补充4 综合应用题</vt:lpstr>
      <vt:lpstr>第5章  补充1  综合应用题 (2012)</vt:lpstr>
      <vt:lpstr>第5章  补充1  综合应用题</vt:lpstr>
      <vt:lpstr>解析</vt:lpstr>
      <vt:lpstr>解析</vt:lpstr>
      <vt:lpstr>解析</vt:lpstr>
      <vt:lpstr>第6章 补充1  综合应用题 (2011 )</vt:lpstr>
      <vt:lpstr>第6章 补充1、综合应用题</vt:lpstr>
      <vt:lpstr>解析</vt:lpstr>
      <vt:lpstr>解析</vt:lpstr>
      <vt:lpstr>第6章 补充2  综合应用题 (2022 )</vt:lpstr>
      <vt:lpstr>第6章 补充2  综合应用题 (2022 )</vt:lpstr>
      <vt:lpstr>第6章 补充2  综合应用题 (2022 )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ZF</dc:creator>
  <cp:lastModifiedBy>Windows 用户</cp:lastModifiedBy>
  <cp:revision>401</cp:revision>
  <dcterms:modified xsi:type="dcterms:W3CDTF">2023-12-28T03:50:10Z</dcterms:modified>
</cp:coreProperties>
</file>